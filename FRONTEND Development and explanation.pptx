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065"/>
        </a:solidFill>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4F46E5">
              <a:alpha val="30000"/>
            </a:srgbClr>
          </a:solidFill>
          <a:ln/>
        </p:spPr>
      </p:sp>
      <p:sp>
        <p:nvSpPr>
          <p:cNvPr id="3" name="Shape 1"/>
          <p:cNvSpPr/>
          <p:nvPr/>
        </p:nvSpPr>
        <p:spPr>
          <a:xfrm>
            <a:off x="-1645920" y="4754880"/>
            <a:ext cx="3840480" cy="3840480"/>
          </a:xfrm>
          <a:prstGeom prst="ellipse">
            <a:avLst/>
          </a:prstGeom>
          <a:solidFill>
            <a:srgbClr val="FBBF24">
              <a:alpha val="15000"/>
            </a:srgbClr>
          </a:solidFill>
          <a:ln/>
        </p:spPr>
      </p:sp>
      <p:sp>
        <p:nvSpPr>
          <p:cNvPr id="4" name="Text 2"/>
          <p:cNvSpPr/>
          <p:nvPr/>
        </p:nvSpPr>
        <p:spPr>
          <a:xfrm>
            <a:off x="457200" y="1965960"/>
            <a:ext cx="11247120" cy="457200"/>
          </a:xfrm>
          <a:prstGeom prst="rect">
            <a:avLst/>
          </a:prstGeom>
          <a:noFill/>
          <a:ln/>
        </p:spPr>
        <p:txBody>
          <a:bodyPr wrap="square" lIns="0" tIns="0" rIns="0" bIns="0" rtlCol="0" anchor="ctr"/>
          <a:lstStyle/>
          <a:p>
            <a:pPr indent="0" marL="0">
              <a:buNone/>
            </a:pPr>
            <a:r>
              <a:rPr lang="en-US" sz="1600" b="1" spc="600" kern="0" dirty="0">
                <a:solidFill>
                  <a:srgbClr val="FBBF24"/>
                </a:solidFill>
                <a:latin typeface="Calibri" pitchFamily="34" charset="0"/>
                <a:ea typeface="Calibri" pitchFamily="34" charset="-122"/>
                <a:cs typeface="Calibri" pitchFamily="34" charset="-120"/>
              </a:rPr>
              <a:t>BOOKSTORE</a:t>
            </a:r>
            <a:endParaRPr lang="en-US" sz="1600" dirty="0"/>
          </a:p>
        </p:txBody>
      </p:sp>
      <p:sp>
        <p:nvSpPr>
          <p:cNvPr id="5" name="Text 3"/>
          <p:cNvSpPr/>
          <p:nvPr/>
        </p:nvSpPr>
        <p:spPr>
          <a:xfrm>
            <a:off x="457200" y="2423160"/>
            <a:ext cx="1051560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Frontend Architecture &amp;</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Development Documentation</a:t>
            </a:r>
            <a:endParaRPr lang="en-US" sz="4000" dirty="0"/>
          </a:p>
        </p:txBody>
      </p:sp>
      <p:sp>
        <p:nvSpPr>
          <p:cNvPr id="6" name="Text 4"/>
          <p:cNvSpPr/>
          <p:nvPr/>
        </p:nvSpPr>
        <p:spPr>
          <a:xfrm>
            <a:off x="457200" y="4343400"/>
            <a:ext cx="8961120" cy="822960"/>
          </a:xfrm>
          <a:prstGeom prst="rect">
            <a:avLst/>
          </a:prstGeom>
          <a:noFill/>
          <a:ln/>
        </p:spPr>
        <p:txBody>
          <a:bodyPr wrap="square" lIns="0" tIns="0" rIns="0" bIns="0" rtlCol="0" anchor="ctr"/>
          <a:lstStyle/>
          <a:p>
            <a:pPr indent="0" marL="0">
              <a:lnSpc>
                <a:spcPct val="120000"/>
              </a:lnSpc>
              <a:buNone/>
            </a:pPr>
            <a:r>
              <a:rPr lang="en-US" sz="1400" dirty="0">
                <a:solidFill>
                  <a:srgbClr val="D8D2F0"/>
                </a:solidFill>
                <a:latin typeface="Calibri" pitchFamily="34" charset="0"/>
                <a:ea typeface="Calibri" pitchFamily="34" charset="-122"/>
                <a:cs typeface="Calibri" pitchFamily="34" charset="-120"/>
              </a:rPr>
              <a:t>A complete guide to the React 19 single-page application powering the BookStore e-commerce catalog — components, contexts, routing, API integration, and 3D UI.</a:t>
            </a:r>
            <a:endParaRPr lang="en-US" sz="1400" dirty="0"/>
          </a:p>
        </p:txBody>
      </p:sp>
      <p:sp>
        <p:nvSpPr>
          <p:cNvPr id="7" name="Shape 5"/>
          <p:cNvSpPr/>
          <p:nvPr/>
        </p:nvSpPr>
        <p:spPr>
          <a:xfrm>
            <a:off x="457200" y="5349240"/>
            <a:ext cx="1097280" cy="0"/>
          </a:xfrm>
          <a:prstGeom prst="line">
            <a:avLst/>
          </a:prstGeom>
          <a:noFill/>
          <a:ln w="38100">
            <a:solidFill>
              <a:srgbClr val="FBBF24"/>
            </a:solidFill>
            <a:prstDash val="solid"/>
          </a:ln>
        </p:spPr>
      </p:sp>
      <p:sp>
        <p:nvSpPr>
          <p:cNvPr id="8" name="Text 6"/>
          <p:cNvSpPr/>
          <p:nvPr/>
        </p:nvSpPr>
        <p:spPr>
          <a:xfrm>
            <a:off x="457200" y="5532120"/>
            <a:ext cx="10058400" cy="457200"/>
          </a:xfrm>
          <a:prstGeom prst="rect">
            <a:avLst/>
          </a:prstGeom>
          <a:noFill/>
          <a:ln/>
        </p:spPr>
        <p:txBody>
          <a:bodyPr wrap="square" lIns="0" tIns="0" rIns="0" bIns="0" rtlCol="0" anchor="ctr"/>
          <a:lstStyle/>
          <a:p>
            <a:pPr indent="0" marL="0">
              <a:buNone/>
            </a:pPr>
            <a:r>
              <a:rPr lang="en-US" sz="1200" dirty="0">
                <a:solidFill>
                  <a:srgbClr val="B9B0DE"/>
                </a:solidFill>
                <a:latin typeface="Calibri" pitchFamily="34" charset="0"/>
                <a:ea typeface="Calibri" pitchFamily="34" charset="-122"/>
                <a:cs typeface="Calibri" pitchFamily="34" charset="-120"/>
              </a:rPr>
              <a:t>React 19  ·  Vite 8  ·  Tailwind CSS  ·  React Router 7  ·  Three.js / R3F  ·  Framer Motion  ·  Axios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1. Project Overview</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A premium, high-fidelity single-page e-commerce catalog experience</a:t>
            </a:r>
            <a:endParaRPr lang="en-US" sz="1300" dirty="0"/>
          </a:p>
        </p:txBody>
      </p:sp>
      <p:sp>
        <p:nvSpPr>
          <p:cNvPr id="4" name="Text 2"/>
          <p:cNvSpPr/>
          <p:nvPr/>
        </p:nvSpPr>
        <p:spPr>
          <a:xfrm>
            <a:off x="457200" y="1188720"/>
            <a:ext cx="5669280" cy="365760"/>
          </a:xfrm>
          <a:prstGeom prst="rect">
            <a:avLst/>
          </a:prstGeom>
          <a:noFill/>
          <a:ln/>
        </p:spPr>
        <p:txBody>
          <a:bodyPr wrap="square" lIns="0" tIns="0" rIns="0" bIns="0" rtlCol="0" anchor="ctr"/>
          <a:lstStyle/>
          <a:p>
            <a:pPr indent="0" marL="0">
              <a:buNone/>
            </a:pPr>
            <a:r>
              <a:rPr lang="en-US" sz="1600" b="1" dirty="0">
                <a:solidFill>
                  <a:srgbClr val="4F46E5"/>
                </a:solidFill>
                <a:latin typeface="Cambria" pitchFamily="34" charset="0"/>
                <a:ea typeface="Cambria" pitchFamily="34" charset="-122"/>
                <a:cs typeface="Cambria" pitchFamily="34" charset="-120"/>
              </a:rPr>
              <a:t>Purpose</a:t>
            </a:r>
            <a:endParaRPr lang="en-US" sz="1600" dirty="0"/>
          </a:p>
        </p:txBody>
      </p:sp>
      <p:sp>
        <p:nvSpPr>
          <p:cNvPr id="5" name="Text 3"/>
          <p:cNvSpPr/>
          <p:nvPr/>
        </p:nvSpPr>
        <p:spPr>
          <a:xfrm>
            <a:off x="457200" y="1600200"/>
            <a:ext cx="5669280" cy="4206240"/>
          </a:xfrm>
          <a:prstGeom prst="rect">
            <a:avLst/>
          </a:prstGeom>
          <a:noFill/>
          <a:ln/>
        </p:spPr>
        <p:txBody>
          <a:bodyPr wrap="square" rtlCol="0" anchor="t"/>
          <a:lstStyle/>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Browse and search a curated catalog across multiple categories</a:t>
            </a:r>
            <a:endParaRPr lang="en-US" sz="1350" dirty="0"/>
          </a:p>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View book specs, descriptions, ratings, and stock limits</a:t>
            </a:r>
            <a:endParaRPr lang="en-US" sz="1350" dirty="0"/>
          </a:p>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Manage a persistent shopping cart with auto-calculated ₹ subtotals</a:t>
            </a:r>
            <a:endParaRPr lang="en-US" sz="1350" dirty="0"/>
          </a:p>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Complete checkouts by supplying shipping info</a:t>
            </a:r>
            <a:endParaRPr lang="en-US" sz="1350" dirty="0"/>
          </a:p>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Manage profiles and view order history</a:t>
            </a:r>
            <a:endParaRPr lang="en-US" sz="1350" dirty="0"/>
          </a:p>
          <a:p>
            <a:pPr marL="342900" indent="-342900">
              <a:lnSpc>
                <a:spcPct val="125000"/>
              </a:lnSpc>
              <a:buSzPct val="100000"/>
              <a:buChar char="•"/>
            </a:pPr>
            <a:r>
              <a:rPr lang="en-US" sz="1350" dirty="0">
                <a:solidFill>
                  <a:srgbClr val="1E1B2E"/>
                </a:solidFill>
                <a:latin typeface="Calibri" pitchFamily="34" charset="0"/>
                <a:ea typeface="Calibri" pitchFamily="34" charset="-122"/>
                <a:cs typeface="Calibri" pitchFamily="34" charset="-120"/>
              </a:rPr>
              <a:t>Transition into an admin panel to manage inventory and orders</a:t>
            </a:r>
            <a:endParaRPr lang="en-US" sz="1350" dirty="0"/>
          </a:p>
        </p:txBody>
      </p:sp>
      <p:sp>
        <p:nvSpPr>
          <p:cNvPr id="6" name="Text 4"/>
          <p:cNvSpPr/>
          <p:nvPr/>
        </p:nvSpPr>
        <p:spPr>
          <a:xfrm>
            <a:off x="6492240" y="1188720"/>
            <a:ext cx="5212080" cy="365760"/>
          </a:xfrm>
          <a:prstGeom prst="rect">
            <a:avLst/>
          </a:prstGeom>
          <a:noFill/>
          <a:ln/>
        </p:spPr>
        <p:txBody>
          <a:bodyPr wrap="square" lIns="0" tIns="0" rIns="0" bIns="0" rtlCol="0" anchor="ctr"/>
          <a:lstStyle/>
          <a:p>
            <a:pPr indent="0" marL="0">
              <a:buNone/>
            </a:pPr>
            <a:r>
              <a:rPr lang="en-US" sz="1600" b="1" dirty="0">
                <a:solidFill>
                  <a:srgbClr val="4F46E5"/>
                </a:solidFill>
                <a:latin typeface="Cambria" pitchFamily="34" charset="0"/>
                <a:ea typeface="Cambria" pitchFamily="34" charset="-122"/>
                <a:cs typeface="Cambria" pitchFamily="34" charset="-120"/>
              </a:rPr>
              <a:t>Core Technologies</a:t>
            </a:r>
            <a:endParaRPr lang="en-US" sz="1600" dirty="0"/>
          </a:p>
        </p:txBody>
      </p:sp>
      <p:sp>
        <p:nvSpPr>
          <p:cNvPr id="7" name="Shape 5"/>
          <p:cNvSpPr/>
          <p:nvPr/>
        </p:nvSpPr>
        <p:spPr>
          <a:xfrm>
            <a:off x="6492240" y="1655064"/>
            <a:ext cx="109728" cy="109728"/>
          </a:xfrm>
          <a:prstGeom prst="ellipse">
            <a:avLst/>
          </a:prstGeom>
          <a:solidFill>
            <a:srgbClr val="FBBF24"/>
          </a:solidFill>
          <a:ln/>
        </p:spPr>
      </p:sp>
      <p:sp>
        <p:nvSpPr>
          <p:cNvPr id="8" name="Text 6"/>
          <p:cNvSpPr/>
          <p:nvPr/>
        </p:nvSpPr>
        <p:spPr>
          <a:xfrm>
            <a:off x="6720840" y="1527048"/>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React 19.2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Functional components, custom hooks, context providers</a:t>
            </a:r>
            <a:endParaRPr lang="en-US" sz="1250" dirty="0"/>
          </a:p>
        </p:txBody>
      </p:sp>
      <p:sp>
        <p:nvSpPr>
          <p:cNvPr id="9" name="Shape 7"/>
          <p:cNvSpPr/>
          <p:nvPr/>
        </p:nvSpPr>
        <p:spPr>
          <a:xfrm>
            <a:off x="6492240" y="2221992"/>
            <a:ext cx="109728" cy="109728"/>
          </a:xfrm>
          <a:prstGeom prst="ellipse">
            <a:avLst/>
          </a:prstGeom>
          <a:solidFill>
            <a:srgbClr val="FBBF24"/>
          </a:solidFill>
          <a:ln/>
        </p:spPr>
      </p:sp>
      <p:sp>
        <p:nvSpPr>
          <p:cNvPr id="10" name="Text 8"/>
          <p:cNvSpPr/>
          <p:nvPr/>
        </p:nvSpPr>
        <p:spPr>
          <a:xfrm>
            <a:off x="6720840" y="2093976"/>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Vite 8.1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Instant Hot Module Replacement build tooling</a:t>
            </a:r>
            <a:endParaRPr lang="en-US" sz="1250" dirty="0"/>
          </a:p>
        </p:txBody>
      </p:sp>
      <p:sp>
        <p:nvSpPr>
          <p:cNvPr id="11" name="Shape 9"/>
          <p:cNvSpPr/>
          <p:nvPr/>
        </p:nvSpPr>
        <p:spPr>
          <a:xfrm>
            <a:off x="6492240" y="2788920"/>
            <a:ext cx="109728" cy="109728"/>
          </a:xfrm>
          <a:prstGeom prst="ellipse">
            <a:avLst/>
          </a:prstGeom>
          <a:solidFill>
            <a:srgbClr val="FBBF24"/>
          </a:solidFill>
          <a:ln/>
        </p:spPr>
      </p:sp>
      <p:sp>
        <p:nvSpPr>
          <p:cNvPr id="12" name="Text 10"/>
          <p:cNvSpPr/>
          <p:nvPr/>
        </p:nvSpPr>
        <p:spPr>
          <a:xfrm>
            <a:off x="6720840" y="2660904"/>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Tailwind CSS 3.4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Utility-first styling with custom design tokens</a:t>
            </a:r>
            <a:endParaRPr lang="en-US" sz="1250" dirty="0"/>
          </a:p>
        </p:txBody>
      </p:sp>
      <p:sp>
        <p:nvSpPr>
          <p:cNvPr id="13" name="Shape 11"/>
          <p:cNvSpPr/>
          <p:nvPr/>
        </p:nvSpPr>
        <p:spPr>
          <a:xfrm>
            <a:off x="6492240" y="3355848"/>
            <a:ext cx="109728" cy="109728"/>
          </a:xfrm>
          <a:prstGeom prst="ellipse">
            <a:avLst/>
          </a:prstGeom>
          <a:solidFill>
            <a:srgbClr val="FBBF24"/>
          </a:solidFill>
          <a:ln/>
        </p:spPr>
      </p:sp>
      <p:sp>
        <p:nvSpPr>
          <p:cNvPr id="14" name="Text 12"/>
          <p:cNvSpPr/>
          <p:nvPr/>
        </p:nvSpPr>
        <p:spPr>
          <a:xfrm>
            <a:off x="6720840" y="3227832"/>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React Router DOM 7.1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Client routing with route-guard sub-components</a:t>
            </a:r>
            <a:endParaRPr lang="en-US" sz="1250" dirty="0"/>
          </a:p>
        </p:txBody>
      </p:sp>
      <p:sp>
        <p:nvSpPr>
          <p:cNvPr id="15" name="Shape 13"/>
          <p:cNvSpPr/>
          <p:nvPr/>
        </p:nvSpPr>
        <p:spPr>
          <a:xfrm>
            <a:off x="6492240" y="3922776"/>
            <a:ext cx="109728" cy="109728"/>
          </a:xfrm>
          <a:prstGeom prst="ellipse">
            <a:avLst/>
          </a:prstGeom>
          <a:solidFill>
            <a:srgbClr val="FBBF24"/>
          </a:solidFill>
          <a:ln/>
        </p:spPr>
      </p:sp>
      <p:sp>
        <p:nvSpPr>
          <p:cNvPr id="16" name="Text 14"/>
          <p:cNvSpPr/>
          <p:nvPr/>
        </p:nvSpPr>
        <p:spPr>
          <a:xfrm>
            <a:off x="6720840" y="3794760"/>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Three.js / R3F / drei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3D book model and particle field rendering</a:t>
            </a:r>
            <a:endParaRPr lang="en-US" sz="1250" dirty="0"/>
          </a:p>
        </p:txBody>
      </p:sp>
      <p:sp>
        <p:nvSpPr>
          <p:cNvPr id="17" name="Shape 15"/>
          <p:cNvSpPr/>
          <p:nvPr/>
        </p:nvSpPr>
        <p:spPr>
          <a:xfrm>
            <a:off x="6492240" y="4489704"/>
            <a:ext cx="109728" cy="109728"/>
          </a:xfrm>
          <a:prstGeom prst="ellipse">
            <a:avLst/>
          </a:prstGeom>
          <a:solidFill>
            <a:srgbClr val="FBBF24"/>
          </a:solidFill>
          <a:ln/>
        </p:spPr>
      </p:sp>
      <p:sp>
        <p:nvSpPr>
          <p:cNvPr id="18" name="Text 16"/>
          <p:cNvSpPr/>
          <p:nvPr/>
        </p:nvSpPr>
        <p:spPr>
          <a:xfrm>
            <a:off x="6720840" y="4361688"/>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GSAP &amp; Framer Motion 12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Fluid transitions, hover springs, route animations</a:t>
            </a:r>
            <a:endParaRPr lang="en-US" sz="1250" dirty="0"/>
          </a:p>
        </p:txBody>
      </p:sp>
      <p:sp>
        <p:nvSpPr>
          <p:cNvPr id="19" name="Shape 17"/>
          <p:cNvSpPr/>
          <p:nvPr/>
        </p:nvSpPr>
        <p:spPr>
          <a:xfrm>
            <a:off x="6492240" y="5056632"/>
            <a:ext cx="109728" cy="109728"/>
          </a:xfrm>
          <a:prstGeom prst="ellipse">
            <a:avLst/>
          </a:prstGeom>
          <a:solidFill>
            <a:srgbClr val="FBBF24"/>
          </a:solidFill>
          <a:ln/>
        </p:spPr>
      </p:sp>
      <p:sp>
        <p:nvSpPr>
          <p:cNvPr id="20" name="Text 18"/>
          <p:cNvSpPr/>
          <p:nvPr/>
        </p:nvSpPr>
        <p:spPr>
          <a:xfrm>
            <a:off x="6720840" y="4928616"/>
            <a:ext cx="4937760" cy="457200"/>
          </a:xfrm>
          <a:prstGeom prst="rect">
            <a:avLst/>
          </a:prstGeom>
          <a:noFill/>
          <a:ln/>
        </p:spPr>
        <p:txBody>
          <a:bodyPr wrap="square" lIns="0" tIns="0" rIns="0" bIns="0" rtlCol="0" anchor="t"/>
          <a:lstStyle/>
          <a:p>
            <a:pPr indent="0" marL="0">
              <a:lnSpc>
                <a:spcPct val="110000"/>
              </a:lnSpc>
              <a:buNone/>
            </a:pPr>
            <a:r>
              <a:rPr lang="en-US" sz="1250" b="1" dirty="0">
                <a:solidFill>
                  <a:srgbClr val="2E1065"/>
                </a:solidFill>
                <a:latin typeface="Calibri" pitchFamily="34" charset="0"/>
                <a:ea typeface="Calibri" pitchFamily="34" charset="-122"/>
                <a:cs typeface="Calibri" pitchFamily="34" charset="-120"/>
              </a:rPr>
              <a:t>Axios 1.18 — </a:t>
            </a:r>
            <a:pPr indent="0" marL="0">
              <a:lnSpc>
                <a:spcPct val="110000"/>
              </a:lnSpc>
              <a:buNone/>
            </a:pPr>
            <a:r>
              <a:rPr lang="en-US" sz="1250" dirty="0">
                <a:solidFill>
                  <a:srgbClr val="1E1B2E"/>
                </a:solidFill>
                <a:latin typeface="Calibri" pitchFamily="34" charset="0"/>
                <a:ea typeface="Calibri" pitchFamily="34" charset="-122"/>
                <a:cs typeface="Calibri" pitchFamily="34" charset="-120"/>
              </a:rPr>
              <a:t>HTTP client with JWT auth injection</a:t>
            </a:r>
            <a:endParaRPr lang="en-US" sz="1250" dirty="0"/>
          </a:p>
        </p:txBody>
      </p:sp>
      <p:sp>
        <p:nvSpPr>
          <p:cNvPr id="21" name="Text 19"/>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1. Overall Architecture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Context-driven service architecture layered on structural components</a:t>
            </a:r>
            <a:endParaRPr lang="en-US" sz="1300" dirty="0"/>
          </a:p>
        </p:txBody>
      </p:sp>
      <p:sp>
        <p:nvSpPr>
          <p:cNvPr id="4" name="Shape 2"/>
          <p:cNvSpPr/>
          <p:nvPr/>
        </p:nvSpPr>
        <p:spPr>
          <a:xfrm>
            <a:off x="1371600" y="1234440"/>
            <a:ext cx="9418320" cy="841248"/>
          </a:xfrm>
          <a:prstGeom prst="roundRect">
            <a:avLst>
              <a:gd name="adj" fmla="val 6522"/>
            </a:avLst>
          </a:prstGeom>
          <a:solidFill>
            <a:srgbClr val="2E1065"/>
          </a:solidFill>
          <a:ln/>
          <a:effectLst>
            <a:outerShdw sx="100000" sy="100000" kx="0" ky="0" algn="bl" rotWithShape="0" blurRad="76200" dist="25400" dir="2700000">
              <a:srgbClr val="000000">
                <a:alpha val="12000"/>
              </a:srgbClr>
            </a:outerShdw>
          </a:effectLst>
        </p:spPr>
      </p:sp>
      <p:sp>
        <p:nvSpPr>
          <p:cNvPr id="5" name="Text 3"/>
          <p:cNvSpPr/>
          <p:nvPr/>
        </p:nvSpPr>
        <p:spPr>
          <a:xfrm>
            <a:off x="1645920" y="1234440"/>
            <a:ext cx="3657600" cy="8412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USER VIEWPORT</a:t>
            </a:r>
            <a:endParaRPr lang="en-US" sz="1500" dirty="0"/>
          </a:p>
        </p:txBody>
      </p:sp>
      <p:sp>
        <p:nvSpPr>
          <p:cNvPr id="6" name="Text 4"/>
          <p:cNvSpPr/>
          <p:nvPr/>
        </p:nvSpPr>
        <p:spPr>
          <a:xfrm>
            <a:off x="5212080" y="1234440"/>
            <a:ext cx="5303520" cy="841248"/>
          </a:xfrm>
          <a:prstGeom prst="rect">
            <a:avLst/>
          </a:prstGeom>
          <a:noFill/>
          <a:ln/>
        </p:spPr>
        <p:txBody>
          <a:bodyPr wrap="square" lIns="0" tIns="0" rIns="0" bIns="0" rtlCol="0" anchor="ctr"/>
          <a:lstStyle/>
          <a:p>
            <a:pPr indent="0" marL="0">
              <a:buNone/>
            </a:pPr>
            <a:r>
              <a:rPr lang="en-US" sz="1200" dirty="0">
                <a:solidFill>
                  <a:srgbClr val="F0EDFB"/>
                </a:solidFill>
                <a:latin typeface="Calibri" pitchFamily="34" charset="0"/>
                <a:ea typeface="Calibri" pitchFamily="34" charset="-122"/>
                <a:cs typeface="Calibri" pitchFamily="34" charset="-120"/>
              </a:rPr>
              <a:t>Navbar · CustomCursor · Main Layout · Admin Console Layout</a:t>
            </a:r>
            <a:endParaRPr lang="en-US" sz="1200" dirty="0"/>
          </a:p>
        </p:txBody>
      </p:sp>
      <p:sp>
        <p:nvSpPr>
          <p:cNvPr id="7" name="Shape 5"/>
          <p:cNvSpPr/>
          <p:nvPr/>
        </p:nvSpPr>
        <p:spPr>
          <a:xfrm>
            <a:off x="5998464" y="2084832"/>
            <a:ext cx="164592" cy="164592"/>
          </a:xfrm>
          <a:prstGeom prst="ellipse">
            <a:avLst/>
          </a:prstGeom>
          <a:solidFill>
            <a:srgbClr val="FBBF24"/>
          </a:solidFill>
          <a:ln/>
        </p:spPr>
      </p:sp>
      <p:sp>
        <p:nvSpPr>
          <p:cNvPr id="8" name="Shape 6"/>
          <p:cNvSpPr/>
          <p:nvPr/>
        </p:nvSpPr>
        <p:spPr>
          <a:xfrm>
            <a:off x="1371600" y="2203704"/>
            <a:ext cx="9418320" cy="841248"/>
          </a:xfrm>
          <a:prstGeom prst="roundRect">
            <a:avLst>
              <a:gd name="adj" fmla="val 6522"/>
            </a:avLst>
          </a:prstGeom>
          <a:solidFill>
            <a:srgbClr val="4F46E5"/>
          </a:solidFill>
          <a:ln/>
          <a:effectLst>
            <a:outerShdw sx="100000" sy="100000" kx="0" ky="0" algn="bl" rotWithShape="0" blurRad="76200" dist="25400" dir="2700000">
              <a:srgbClr val="000000">
                <a:alpha val="12000"/>
              </a:srgbClr>
            </a:outerShdw>
          </a:effectLst>
        </p:spPr>
      </p:sp>
      <p:sp>
        <p:nvSpPr>
          <p:cNvPr id="9" name="Text 7"/>
          <p:cNvSpPr/>
          <p:nvPr/>
        </p:nvSpPr>
        <p:spPr>
          <a:xfrm>
            <a:off x="1645920" y="2203704"/>
            <a:ext cx="3657600" cy="8412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PAGES &amp; ROUTING</a:t>
            </a:r>
            <a:endParaRPr lang="en-US" sz="1500" dirty="0"/>
          </a:p>
        </p:txBody>
      </p:sp>
      <p:sp>
        <p:nvSpPr>
          <p:cNvPr id="10" name="Text 8"/>
          <p:cNvSpPr/>
          <p:nvPr/>
        </p:nvSpPr>
        <p:spPr>
          <a:xfrm>
            <a:off x="5212080" y="2203704"/>
            <a:ext cx="5303520" cy="841248"/>
          </a:xfrm>
          <a:prstGeom prst="rect">
            <a:avLst/>
          </a:prstGeom>
          <a:noFill/>
          <a:ln/>
        </p:spPr>
        <p:txBody>
          <a:bodyPr wrap="square" lIns="0" tIns="0" rIns="0" bIns="0" rtlCol="0" anchor="ctr"/>
          <a:lstStyle/>
          <a:p>
            <a:pPr indent="0" marL="0">
              <a:buNone/>
            </a:pPr>
            <a:r>
              <a:rPr lang="en-US" sz="1200" dirty="0">
                <a:solidFill>
                  <a:srgbClr val="F0EDFB"/>
                </a:solidFill>
                <a:latin typeface="Calibri" pitchFamily="34" charset="0"/>
                <a:ea typeface="Calibri" pitchFamily="34" charset="-122"/>
                <a:cs typeface="Calibri" pitchFamily="34" charset="-120"/>
              </a:rPr>
              <a:t>AppRoutes · Public Pages · Protected Pages · Guards</a:t>
            </a:r>
            <a:endParaRPr lang="en-US" sz="1200" dirty="0"/>
          </a:p>
        </p:txBody>
      </p:sp>
      <p:sp>
        <p:nvSpPr>
          <p:cNvPr id="11" name="Shape 9"/>
          <p:cNvSpPr/>
          <p:nvPr/>
        </p:nvSpPr>
        <p:spPr>
          <a:xfrm>
            <a:off x="5998464" y="3054096"/>
            <a:ext cx="164592" cy="164592"/>
          </a:xfrm>
          <a:prstGeom prst="ellipse">
            <a:avLst/>
          </a:prstGeom>
          <a:solidFill>
            <a:srgbClr val="FBBF24"/>
          </a:solidFill>
          <a:ln/>
        </p:spPr>
      </p:sp>
      <p:sp>
        <p:nvSpPr>
          <p:cNvPr id="12" name="Shape 10"/>
          <p:cNvSpPr/>
          <p:nvPr/>
        </p:nvSpPr>
        <p:spPr>
          <a:xfrm>
            <a:off x="1371600" y="3172968"/>
            <a:ext cx="9418320" cy="841248"/>
          </a:xfrm>
          <a:prstGeom prst="roundRect">
            <a:avLst>
              <a:gd name="adj" fmla="val 6522"/>
            </a:avLst>
          </a:prstGeom>
          <a:solidFill>
            <a:srgbClr val="6D5BD0"/>
          </a:solidFill>
          <a:ln/>
          <a:effectLst>
            <a:outerShdw sx="100000" sy="100000" kx="0" ky="0" algn="bl" rotWithShape="0" blurRad="76200" dist="25400" dir="2700000">
              <a:srgbClr val="000000">
                <a:alpha val="12000"/>
              </a:srgbClr>
            </a:outerShdw>
          </a:effectLst>
        </p:spPr>
      </p:sp>
      <p:sp>
        <p:nvSpPr>
          <p:cNvPr id="13" name="Text 11"/>
          <p:cNvSpPr/>
          <p:nvPr/>
        </p:nvSpPr>
        <p:spPr>
          <a:xfrm>
            <a:off x="1645920" y="3172968"/>
            <a:ext cx="3657600" cy="8412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STATE CONTEXTS</a:t>
            </a:r>
            <a:endParaRPr lang="en-US" sz="1500" dirty="0"/>
          </a:p>
        </p:txBody>
      </p:sp>
      <p:sp>
        <p:nvSpPr>
          <p:cNvPr id="14" name="Text 12"/>
          <p:cNvSpPr/>
          <p:nvPr/>
        </p:nvSpPr>
        <p:spPr>
          <a:xfrm>
            <a:off x="5212080" y="3172968"/>
            <a:ext cx="5303520" cy="841248"/>
          </a:xfrm>
          <a:prstGeom prst="rect">
            <a:avLst/>
          </a:prstGeom>
          <a:noFill/>
          <a:ln/>
        </p:spPr>
        <p:txBody>
          <a:bodyPr wrap="square" lIns="0" tIns="0" rIns="0" bIns="0" rtlCol="0" anchor="ctr"/>
          <a:lstStyle/>
          <a:p>
            <a:pPr indent="0" marL="0">
              <a:buNone/>
            </a:pPr>
            <a:r>
              <a:rPr lang="en-US" sz="1200" dirty="0">
                <a:solidFill>
                  <a:srgbClr val="F0EDFB"/>
                </a:solidFill>
                <a:latin typeface="Calibri" pitchFamily="34" charset="0"/>
                <a:ea typeface="Calibri" pitchFamily="34" charset="-122"/>
                <a:cs typeface="Calibri" pitchFamily="34" charset="-120"/>
              </a:rPr>
              <a:t>AuthContext.jsx · BookContext.jsx · CartContext.jsx</a:t>
            </a:r>
            <a:endParaRPr lang="en-US" sz="1200" dirty="0"/>
          </a:p>
        </p:txBody>
      </p:sp>
      <p:sp>
        <p:nvSpPr>
          <p:cNvPr id="15" name="Shape 13"/>
          <p:cNvSpPr/>
          <p:nvPr/>
        </p:nvSpPr>
        <p:spPr>
          <a:xfrm>
            <a:off x="5998464" y="4023360"/>
            <a:ext cx="164592" cy="164592"/>
          </a:xfrm>
          <a:prstGeom prst="ellipse">
            <a:avLst/>
          </a:prstGeom>
          <a:solidFill>
            <a:srgbClr val="FBBF24"/>
          </a:solidFill>
          <a:ln/>
        </p:spPr>
      </p:sp>
      <p:sp>
        <p:nvSpPr>
          <p:cNvPr id="16" name="Shape 14"/>
          <p:cNvSpPr/>
          <p:nvPr/>
        </p:nvSpPr>
        <p:spPr>
          <a:xfrm>
            <a:off x="1371600" y="4142232"/>
            <a:ext cx="9418320" cy="841248"/>
          </a:xfrm>
          <a:prstGeom prst="roundRect">
            <a:avLst>
              <a:gd name="adj" fmla="val 6522"/>
            </a:avLst>
          </a:prstGeom>
          <a:solidFill>
            <a:srgbClr val="8B7FE8"/>
          </a:solidFill>
          <a:ln/>
          <a:effectLst>
            <a:outerShdw sx="100000" sy="100000" kx="0" ky="0" algn="bl" rotWithShape="0" blurRad="76200" dist="25400" dir="2700000">
              <a:srgbClr val="000000">
                <a:alpha val="12000"/>
              </a:srgbClr>
            </a:outerShdw>
          </a:effectLst>
        </p:spPr>
      </p:sp>
      <p:sp>
        <p:nvSpPr>
          <p:cNvPr id="17" name="Text 15"/>
          <p:cNvSpPr/>
          <p:nvPr/>
        </p:nvSpPr>
        <p:spPr>
          <a:xfrm>
            <a:off x="1645920" y="4142232"/>
            <a:ext cx="3657600" cy="8412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API SERVICES</a:t>
            </a:r>
            <a:endParaRPr lang="en-US" sz="1500" dirty="0"/>
          </a:p>
        </p:txBody>
      </p:sp>
      <p:sp>
        <p:nvSpPr>
          <p:cNvPr id="18" name="Text 16"/>
          <p:cNvSpPr/>
          <p:nvPr/>
        </p:nvSpPr>
        <p:spPr>
          <a:xfrm>
            <a:off x="5212080" y="4142232"/>
            <a:ext cx="5303520" cy="841248"/>
          </a:xfrm>
          <a:prstGeom prst="rect">
            <a:avLst/>
          </a:prstGeom>
          <a:noFill/>
          <a:ln/>
        </p:spPr>
        <p:txBody>
          <a:bodyPr wrap="square" lIns="0" tIns="0" rIns="0" bIns="0" rtlCol="0" anchor="ctr"/>
          <a:lstStyle/>
          <a:p>
            <a:pPr indent="0" marL="0">
              <a:buNone/>
            </a:pPr>
            <a:r>
              <a:rPr lang="en-US" sz="1200" dirty="0">
                <a:solidFill>
                  <a:srgbClr val="F0EDFB"/>
                </a:solidFill>
                <a:latin typeface="Calibri" pitchFamily="34" charset="0"/>
                <a:ea typeface="Calibri" pitchFamily="34" charset="-122"/>
                <a:cs typeface="Calibri" pitchFamily="34" charset="-120"/>
              </a:rPr>
              <a:t>api.js Axios client · LocalStorage sync</a:t>
            </a:r>
            <a:endParaRPr lang="en-US" sz="1200" dirty="0"/>
          </a:p>
        </p:txBody>
      </p:sp>
      <p:sp>
        <p:nvSpPr>
          <p:cNvPr id="19" name="Shape 17"/>
          <p:cNvSpPr/>
          <p:nvPr/>
        </p:nvSpPr>
        <p:spPr>
          <a:xfrm>
            <a:off x="5998464" y="4992624"/>
            <a:ext cx="164592" cy="164592"/>
          </a:xfrm>
          <a:prstGeom prst="ellipse">
            <a:avLst/>
          </a:prstGeom>
          <a:solidFill>
            <a:srgbClr val="FBBF24"/>
          </a:solidFill>
          <a:ln/>
        </p:spPr>
      </p:sp>
      <p:sp>
        <p:nvSpPr>
          <p:cNvPr id="20" name="Shape 18"/>
          <p:cNvSpPr/>
          <p:nvPr/>
        </p:nvSpPr>
        <p:spPr>
          <a:xfrm>
            <a:off x="1371600" y="5111496"/>
            <a:ext cx="9418320" cy="841248"/>
          </a:xfrm>
          <a:prstGeom prst="roundRect">
            <a:avLst>
              <a:gd name="adj" fmla="val 6522"/>
            </a:avLst>
          </a:prstGeom>
          <a:solidFill>
            <a:srgbClr val="B8AFEF"/>
          </a:solidFill>
          <a:ln/>
          <a:effectLst>
            <a:outerShdw sx="100000" sy="100000" kx="0" ky="0" algn="bl" rotWithShape="0" blurRad="76200" dist="25400" dir="2700000">
              <a:srgbClr val="000000">
                <a:alpha val="12000"/>
              </a:srgbClr>
            </a:outerShdw>
          </a:effectLst>
        </p:spPr>
      </p:sp>
      <p:sp>
        <p:nvSpPr>
          <p:cNvPr id="21" name="Text 19"/>
          <p:cNvSpPr/>
          <p:nvPr/>
        </p:nvSpPr>
        <p:spPr>
          <a:xfrm>
            <a:off x="1645920" y="5111496"/>
            <a:ext cx="3657600" cy="8412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BACKEND REST APIs</a:t>
            </a:r>
            <a:endParaRPr lang="en-US" sz="1500" dirty="0"/>
          </a:p>
        </p:txBody>
      </p:sp>
      <p:sp>
        <p:nvSpPr>
          <p:cNvPr id="22" name="Text 20"/>
          <p:cNvSpPr/>
          <p:nvPr/>
        </p:nvSpPr>
        <p:spPr>
          <a:xfrm>
            <a:off x="5212080" y="5111496"/>
            <a:ext cx="5303520" cy="841248"/>
          </a:xfrm>
          <a:prstGeom prst="rect">
            <a:avLst/>
          </a:prstGeom>
          <a:noFill/>
          <a:ln/>
        </p:spPr>
        <p:txBody>
          <a:bodyPr wrap="square" lIns="0" tIns="0" rIns="0" bIns="0" rtlCol="0" anchor="ctr"/>
          <a:lstStyle/>
          <a:p>
            <a:pPr indent="0" marL="0">
              <a:buNone/>
            </a:pPr>
            <a:r>
              <a:rPr lang="en-US" sz="1200" dirty="0">
                <a:solidFill>
                  <a:srgbClr val="F0EDFB"/>
                </a:solidFill>
                <a:latin typeface="Calibri" pitchFamily="34" charset="0"/>
                <a:ea typeface="Calibri" pitchFamily="34" charset="-122"/>
                <a:cs typeface="Calibri" pitchFamily="34" charset="-120"/>
              </a:rPr>
              <a:t>Express + MongoDB</a:t>
            </a:r>
            <a:endParaRPr lang="en-US" sz="1200" dirty="0"/>
          </a:p>
        </p:txBody>
      </p:sp>
      <p:sp>
        <p:nvSpPr>
          <p:cNvPr id="23" name="Text 21"/>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2. Folder Structure Overview</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Client/src — organized by architectural responsibility</a:t>
            </a:r>
            <a:endParaRPr lang="en-US" sz="1300" dirty="0"/>
          </a:p>
        </p:txBody>
      </p:sp>
      <p:sp>
        <p:nvSpPr>
          <p:cNvPr id="4" name="Shape 2"/>
          <p:cNvSpPr/>
          <p:nvPr/>
        </p:nvSpPr>
        <p:spPr>
          <a:xfrm>
            <a:off x="457200" y="1234440"/>
            <a:ext cx="2606040" cy="1965960"/>
          </a:xfrm>
          <a:prstGeom prst="roundRect">
            <a:avLst>
              <a:gd name="adj" fmla="val 3721"/>
            </a:avLst>
          </a:prstGeom>
          <a:solidFill>
            <a:srgbClr val="F5F3FF"/>
          </a:solidFill>
          <a:ln/>
          <a:effectLst>
            <a:outerShdw sx="100000" sy="100000" kx="0" ky="0" algn="bl" rotWithShape="0" blurRad="76200" dist="25400" dir="2700000">
              <a:srgbClr val="000000">
                <a:alpha val="12000"/>
              </a:srgbClr>
            </a:outerShdw>
          </a:effectLst>
        </p:spPr>
      </p:sp>
      <p:sp>
        <p:nvSpPr>
          <p:cNvPr id="5" name="Text 3"/>
          <p:cNvSpPr/>
          <p:nvPr/>
        </p:nvSpPr>
        <p:spPr>
          <a:xfrm>
            <a:off x="621792" y="139903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components/</a:t>
            </a:r>
            <a:endParaRPr lang="en-US" sz="1500" dirty="0"/>
          </a:p>
        </p:txBody>
      </p:sp>
      <p:sp>
        <p:nvSpPr>
          <p:cNvPr id="6" name="Text 4"/>
          <p:cNvSpPr/>
          <p:nvPr/>
        </p:nvSpPr>
        <p:spPr>
          <a:xfrm>
            <a:off x="621792" y="182880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Reusable UI elements &amp; route guards</a:t>
            </a:r>
            <a:endParaRPr lang="en-US" sz="1100" dirty="0"/>
          </a:p>
        </p:txBody>
      </p:sp>
      <p:sp>
        <p:nvSpPr>
          <p:cNvPr id="7" name="Text 5"/>
          <p:cNvSpPr/>
          <p:nvPr/>
        </p:nvSpPr>
        <p:spPr>
          <a:xfrm>
            <a:off x="621792" y="278892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16 files</a:t>
            </a:r>
            <a:endParaRPr lang="en-US" sz="1050" dirty="0"/>
          </a:p>
        </p:txBody>
      </p:sp>
      <p:sp>
        <p:nvSpPr>
          <p:cNvPr id="8" name="Shape 6"/>
          <p:cNvSpPr/>
          <p:nvPr/>
        </p:nvSpPr>
        <p:spPr>
          <a:xfrm>
            <a:off x="3337560" y="1234440"/>
            <a:ext cx="2606040" cy="1965960"/>
          </a:xfrm>
          <a:prstGeom prst="roundRect">
            <a:avLst>
              <a:gd name="adj" fmla="val 3721"/>
            </a:avLst>
          </a:prstGeom>
          <a:solidFill>
            <a:srgbClr val="F5F3FF"/>
          </a:solidFill>
          <a:ln/>
          <a:effectLst>
            <a:outerShdw sx="100000" sy="100000" kx="0" ky="0" algn="bl" rotWithShape="0" blurRad="76200" dist="25400" dir="2700000">
              <a:srgbClr val="000000">
                <a:alpha val="12000"/>
              </a:srgbClr>
            </a:outerShdw>
          </a:effectLst>
        </p:spPr>
      </p:sp>
      <p:sp>
        <p:nvSpPr>
          <p:cNvPr id="9" name="Text 7"/>
          <p:cNvSpPr/>
          <p:nvPr/>
        </p:nvSpPr>
        <p:spPr>
          <a:xfrm>
            <a:off x="3502152" y="139903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context/</a:t>
            </a:r>
            <a:endParaRPr lang="en-US" sz="1500" dirty="0"/>
          </a:p>
        </p:txBody>
      </p:sp>
      <p:sp>
        <p:nvSpPr>
          <p:cNvPr id="10" name="Text 8"/>
          <p:cNvSpPr/>
          <p:nvPr/>
        </p:nvSpPr>
        <p:spPr>
          <a:xfrm>
            <a:off x="3502152" y="182880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Global state providers (auth, books, cart)</a:t>
            </a:r>
            <a:endParaRPr lang="en-US" sz="1100" dirty="0"/>
          </a:p>
        </p:txBody>
      </p:sp>
      <p:sp>
        <p:nvSpPr>
          <p:cNvPr id="11" name="Text 9"/>
          <p:cNvSpPr/>
          <p:nvPr/>
        </p:nvSpPr>
        <p:spPr>
          <a:xfrm>
            <a:off x="3502152" y="278892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3 files</a:t>
            </a:r>
            <a:endParaRPr lang="en-US" sz="1050" dirty="0"/>
          </a:p>
        </p:txBody>
      </p:sp>
      <p:sp>
        <p:nvSpPr>
          <p:cNvPr id="12" name="Shape 10"/>
          <p:cNvSpPr/>
          <p:nvPr/>
        </p:nvSpPr>
        <p:spPr>
          <a:xfrm>
            <a:off x="6217920" y="1234440"/>
            <a:ext cx="2606040" cy="1965960"/>
          </a:xfrm>
          <a:prstGeom prst="roundRect">
            <a:avLst>
              <a:gd name="adj" fmla="val 3721"/>
            </a:avLst>
          </a:prstGeom>
          <a:solidFill>
            <a:srgbClr val="F5F3FF"/>
          </a:solidFill>
          <a:ln/>
          <a:effectLst>
            <a:outerShdw sx="100000" sy="100000" kx="0" ky="0" algn="bl" rotWithShape="0" blurRad="76200" dist="25400" dir="2700000">
              <a:srgbClr val="000000">
                <a:alpha val="12000"/>
              </a:srgbClr>
            </a:outerShdw>
          </a:effectLst>
        </p:spPr>
      </p:sp>
      <p:sp>
        <p:nvSpPr>
          <p:cNvPr id="13" name="Text 11"/>
          <p:cNvSpPr/>
          <p:nvPr/>
        </p:nvSpPr>
        <p:spPr>
          <a:xfrm>
            <a:off x="6382512" y="139903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layouts/</a:t>
            </a:r>
            <a:endParaRPr lang="en-US" sz="1500" dirty="0"/>
          </a:p>
        </p:txBody>
      </p:sp>
      <p:sp>
        <p:nvSpPr>
          <p:cNvPr id="14" name="Text 12"/>
          <p:cNvSpPr/>
          <p:nvPr/>
        </p:nvSpPr>
        <p:spPr>
          <a:xfrm>
            <a:off x="6382512" y="182880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Header/footer &amp; admin sidebar wrapper frames</a:t>
            </a:r>
            <a:endParaRPr lang="en-US" sz="1100" dirty="0"/>
          </a:p>
        </p:txBody>
      </p:sp>
      <p:sp>
        <p:nvSpPr>
          <p:cNvPr id="15" name="Text 13"/>
          <p:cNvSpPr/>
          <p:nvPr/>
        </p:nvSpPr>
        <p:spPr>
          <a:xfrm>
            <a:off x="6382512" y="278892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2 files</a:t>
            </a:r>
            <a:endParaRPr lang="en-US" sz="1050" dirty="0"/>
          </a:p>
        </p:txBody>
      </p:sp>
      <p:sp>
        <p:nvSpPr>
          <p:cNvPr id="16" name="Shape 14"/>
          <p:cNvSpPr/>
          <p:nvPr/>
        </p:nvSpPr>
        <p:spPr>
          <a:xfrm>
            <a:off x="9098280" y="1234440"/>
            <a:ext cx="2606040" cy="1965960"/>
          </a:xfrm>
          <a:prstGeom prst="roundRect">
            <a:avLst>
              <a:gd name="adj" fmla="val 3721"/>
            </a:avLst>
          </a:prstGeom>
          <a:solidFill>
            <a:srgbClr val="F5F3FF"/>
          </a:solidFill>
          <a:ln/>
          <a:effectLst>
            <a:outerShdw sx="100000" sy="100000" kx="0" ky="0" algn="bl" rotWithShape="0" blurRad="76200" dist="25400" dir="2700000">
              <a:srgbClr val="000000">
                <a:alpha val="12000"/>
              </a:srgbClr>
            </a:outerShdw>
          </a:effectLst>
        </p:spPr>
      </p:sp>
      <p:sp>
        <p:nvSpPr>
          <p:cNvPr id="17" name="Text 15"/>
          <p:cNvSpPr/>
          <p:nvPr/>
        </p:nvSpPr>
        <p:spPr>
          <a:xfrm>
            <a:off x="9262872" y="139903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pages/</a:t>
            </a:r>
            <a:endParaRPr lang="en-US" sz="1500" dirty="0"/>
          </a:p>
        </p:txBody>
      </p:sp>
      <p:sp>
        <p:nvSpPr>
          <p:cNvPr id="18" name="Text 16"/>
          <p:cNvSpPr/>
          <p:nvPr/>
        </p:nvSpPr>
        <p:spPr>
          <a:xfrm>
            <a:off x="9262872" y="182880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Primary routed screens</a:t>
            </a:r>
            <a:endParaRPr lang="en-US" sz="1100" dirty="0"/>
          </a:p>
        </p:txBody>
      </p:sp>
      <p:sp>
        <p:nvSpPr>
          <p:cNvPr id="19" name="Text 17"/>
          <p:cNvSpPr/>
          <p:nvPr/>
        </p:nvSpPr>
        <p:spPr>
          <a:xfrm>
            <a:off x="9262872" y="278892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11 files</a:t>
            </a:r>
            <a:endParaRPr lang="en-US" sz="1050" dirty="0"/>
          </a:p>
        </p:txBody>
      </p:sp>
      <p:sp>
        <p:nvSpPr>
          <p:cNvPr id="20" name="Shape 18"/>
          <p:cNvSpPr/>
          <p:nvPr/>
        </p:nvSpPr>
        <p:spPr>
          <a:xfrm>
            <a:off x="457200" y="3429000"/>
            <a:ext cx="2606040" cy="1965960"/>
          </a:xfrm>
          <a:prstGeom prst="roundRect">
            <a:avLst>
              <a:gd name="adj" fmla="val 3721"/>
            </a:avLst>
          </a:prstGeom>
          <a:solidFill>
            <a:srgbClr val="EEF2FF"/>
          </a:solidFill>
          <a:ln/>
          <a:effectLst>
            <a:outerShdw sx="100000" sy="100000" kx="0" ky="0" algn="bl" rotWithShape="0" blurRad="76200" dist="25400" dir="2700000">
              <a:srgbClr val="000000">
                <a:alpha val="12000"/>
              </a:srgbClr>
            </a:outerShdw>
          </a:effectLst>
        </p:spPr>
      </p:sp>
      <p:sp>
        <p:nvSpPr>
          <p:cNvPr id="21" name="Text 19"/>
          <p:cNvSpPr/>
          <p:nvPr/>
        </p:nvSpPr>
        <p:spPr>
          <a:xfrm>
            <a:off x="621792" y="359359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routes/</a:t>
            </a:r>
            <a:endParaRPr lang="en-US" sz="1500" dirty="0"/>
          </a:p>
        </p:txBody>
      </p:sp>
      <p:sp>
        <p:nvSpPr>
          <p:cNvPr id="22" name="Text 20"/>
          <p:cNvSpPr/>
          <p:nvPr/>
        </p:nvSpPr>
        <p:spPr>
          <a:xfrm>
            <a:off x="621792" y="402336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Router path-to-page mapping</a:t>
            </a:r>
            <a:endParaRPr lang="en-US" sz="1100" dirty="0"/>
          </a:p>
        </p:txBody>
      </p:sp>
      <p:sp>
        <p:nvSpPr>
          <p:cNvPr id="23" name="Text 21"/>
          <p:cNvSpPr/>
          <p:nvPr/>
        </p:nvSpPr>
        <p:spPr>
          <a:xfrm>
            <a:off x="621792" y="498348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1 file</a:t>
            </a:r>
            <a:endParaRPr lang="en-US" sz="1050" dirty="0"/>
          </a:p>
        </p:txBody>
      </p:sp>
      <p:sp>
        <p:nvSpPr>
          <p:cNvPr id="24" name="Shape 22"/>
          <p:cNvSpPr/>
          <p:nvPr/>
        </p:nvSpPr>
        <p:spPr>
          <a:xfrm>
            <a:off x="3337560" y="3429000"/>
            <a:ext cx="2606040" cy="1965960"/>
          </a:xfrm>
          <a:prstGeom prst="roundRect">
            <a:avLst>
              <a:gd name="adj" fmla="val 3721"/>
            </a:avLst>
          </a:prstGeom>
          <a:solidFill>
            <a:srgbClr val="EEF2FF"/>
          </a:solidFill>
          <a:ln/>
          <a:effectLst>
            <a:outerShdw sx="100000" sy="100000" kx="0" ky="0" algn="bl" rotWithShape="0" blurRad="76200" dist="25400" dir="2700000">
              <a:srgbClr val="000000">
                <a:alpha val="12000"/>
              </a:srgbClr>
            </a:outerShdw>
          </a:effectLst>
        </p:spPr>
      </p:sp>
      <p:sp>
        <p:nvSpPr>
          <p:cNvPr id="25" name="Text 23"/>
          <p:cNvSpPr/>
          <p:nvPr/>
        </p:nvSpPr>
        <p:spPr>
          <a:xfrm>
            <a:off x="3502152" y="359359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services/</a:t>
            </a:r>
            <a:endParaRPr lang="en-US" sz="1500" dirty="0"/>
          </a:p>
        </p:txBody>
      </p:sp>
      <p:sp>
        <p:nvSpPr>
          <p:cNvPr id="26" name="Text 24"/>
          <p:cNvSpPr/>
          <p:nvPr/>
        </p:nvSpPr>
        <p:spPr>
          <a:xfrm>
            <a:off x="3502152" y="402336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Axios API client &amp; fallback mock data</a:t>
            </a:r>
            <a:endParaRPr lang="en-US" sz="1100" dirty="0"/>
          </a:p>
        </p:txBody>
      </p:sp>
      <p:sp>
        <p:nvSpPr>
          <p:cNvPr id="27" name="Text 25"/>
          <p:cNvSpPr/>
          <p:nvPr/>
        </p:nvSpPr>
        <p:spPr>
          <a:xfrm>
            <a:off x="3502152" y="498348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2 files</a:t>
            </a:r>
            <a:endParaRPr lang="en-US" sz="1050" dirty="0"/>
          </a:p>
        </p:txBody>
      </p:sp>
      <p:sp>
        <p:nvSpPr>
          <p:cNvPr id="28" name="Shape 26"/>
          <p:cNvSpPr/>
          <p:nvPr/>
        </p:nvSpPr>
        <p:spPr>
          <a:xfrm>
            <a:off x="6217920" y="3429000"/>
            <a:ext cx="2606040" cy="1965960"/>
          </a:xfrm>
          <a:prstGeom prst="roundRect">
            <a:avLst>
              <a:gd name="adj" fmla="val 3721"/>
            </a:avLst>
          </a:prstGeom>
          <a:solidFill>
            <a:srgbClr val="EEF2FF"/>
          </a:solidFill>
          <a:ln/>
          <a:effectLst>
            <a:outerShdw sx="100000" sy="100000" kx="0" ky="0" algn="bl" rotWithShape="0" blurRad="76200" dist="25400" dir="2700000">
              <a:srgbClr val="000000">
                <a:alpha val="12000"/>
              </a:srgbClr>
            </a:outerShdw>
          </a:effectLst>
        </p:spPr>
      </p:sp>
      <p:sp>
        <p:nvSpPr>
          <p:cNvPr id="29" name="Text 27"/>
          <p:cNvSpPr/>
          <p:nvPr/>
        </p:nvSpPr>
        <p:spPr>
          <a:xfrm>
            <a:off x="6382512" y="359359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styles/</a:t>
            </a:r>
            <a:endParaRPr lang="en-US" sz="1500" dirty="0"/>
          </a:p>
        </p:txBody>
      </p:sp>
      <p:sp>
        <p:nvSpPr>
          <p:cNvPr id="30" name="Text 28"/>
          <p:cNvSpPr/>
          <p:nvPr/>
        </p:nvSpPr>
        <p:spPr>
          <a:xfrm>
            <a:off x="6382512" y="402336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Theme CSS variables &amp; animations</a:t>
            </a:r>
            <a:endParaRPr lang="en-US" sz="1100" dirty="0"/>
          </a:p>
        </p:txBody>
      </p:sp>
      <p:sp>
        <p:nvSpPr>
          <p:cNvPr id="31" name="Text 29"/>
          <p:cNvSpPr/>
          <p:nvPr/>
        </p:nvSpPr>
        <p:spPr>
          <a:xfrm>
            <a:off x="6382512" y="498348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1 file</a:t>
            </a:r>
            <a:endParaRPr lang="en-US" sz="1050" dirty="0"/>
          </a:p>
        </p:txBody>
      </p:sp>
      <p:sp>
        <p:nvSpPr>
          <p:cNvPr id="32" name="Shape 30"/>
          <p:cNvSpPr/>
          <p:nvPr/>
        </p:nvSpPr>
        <p:spPr>
          <a:xfrm>
            <a:off x="9098280" y="3429000"/>
            <a:ext cx="2606040" cy="1965960"/>
          </a:xfrm>
          <a:prstGeom prst="roundRect">
            <a:avLst>
              <a:gd name="adj" fmla="val 3721"/>
            </a:avLst>
          </a:prstGeom>
          <a:solidFill>
            <a:srgbClr val="EEF2FF"/>
          </a:solidFill>
          <a:ln/>
          <a:effectLst>
            <a:outerShdw sx="100000" sy="100000" kx="0" ky="0" algn="bl" rotWithShape="0" blurRad="76200" dist="25400" dir="2700000">
              <a:srgbClr val="000000">
                <a:alpha val="12000"/>
              </a:srgbClr>
            </a:outerShdw>
          </a:effectLst>
        </p:spPr>
      </p:sp>
      <p:sp>
        <p:nvSpPr>
          <p:cNvPr id="33" name="Text 31"/>
          <p:cNvSpPr/>
          <p:nvPr/>
        </p:nvSpPr>
        <p:spPr>
          <a:xfrm>
            <a:off x="9262872" y="3593592"/>
            <a:ext cx="2276856" cy="365760"/>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root (src/)</a:t>
            </a:r>
            <a:endParaRPr lang="en-US" sz="1500" dirty="0"/>
          </a:p>
        </p:txBody>
      </p:sp>
      <p:sp>
        <p:nvSpPr>
          <p:cNvPr id="34" name="Text 32"/>
          <p:cNvSpPr/>
          <p:nvPr/>
        </p:nvSpPr>
        <p:spPr>
          <a:xfrm>
            <a:off x="9262872" y="4023360"/>
            <a:ext cx="2276856" cy="914400"/>
          </a:xfrm>
          <a:prstGeom prst="rect">
            <a:avLst/>
          </a:prstGeom>
          <a:noFill/>
          <a:ln/>
        </p:spPr>
        <p:txBody>
          <a:bodyPr wrap="square" lIns="0" tIns="0" rIns="0" bIns="0" rtlCol="0" anchor="ctr"/>
          <a:lstStyle/>
          <a:p>
            <a:pPr indent="0" marL="0">
              <a:lnSpc>
                <a:spcPct val="115000"/>
              </a:lnSpc>
              <a:buNone/>
            </a:pPr>
            <a:r>
              <a:rPr lang="en-US" sz="1100" dirty="0">
                <a:solidFill>
                  <a:srgbClr val="1E1B2E"/>
                </a:solidFill>
                <a:latin typeface="Calibri" pitchFamily="34" charset="0"/>
                <a:ea typeface="Calibri" pitchFamily="34" charset="-122"/>
                <a:cs typeface="Calibri" pitchFamily="34" charset="-120"/>
              </a:rPr>
              <a:t>Bootstrap, App shell, Tailwind entry</a:t>
            </a:r>
            <a:endParaRPr lang="en-US" sz="1100" dirty="0"/>
          </a:p>
        </p:txBody>
      </p:sp>
      <p:sp>
        <p:nvSpPr>
          <p:cNvPr id="35" name="Text 33"/>
          <p:cNvSpPr/>
          <p:nvPr/>
        </p:nvSpPr>
        <p:spPr>
          <a:xfrm>
            <a:off x="9262872" y="4983480"/>
            <a:ext cx="2276856" cy="27432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4 files</a:t>
            </a:r>
            <a:endParaRPr lang="en-US" sz="1050" dirty="0"/>
          </a:p>
        </p:txBody>
      </p:sp>
      <p:sp>
        <p:nvSpPr>
          <p:cNvPr id="36" name="Text 34"/>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Root Files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 bootstrap, app shell, and global styling</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main.jsx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Application bootstrap mounting point. Renders no components itself, only wraps &lt;App /&gt; inside React.StrictMode. Depends on React DOM and global styles/index.css. Attaches the entire React tree to the HTML #root element.</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App.jsx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Core entry component organizing global state providers. Wraps the app in BrowserRouter, AuthProvider, BookProvider, and CartProvider. Renders CustomCursor and AppRoutes. Acts as the parent container supplying global state to every page.</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App.css</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Basic CSS transitions and style overrides for the App component. Included early in the styling pipeline to support global page transitions. Works alongside index.css to establish baseline visual behavior across routes.</a:t>
            </a:r>
            <a:endParaRPr lang="en-US" sz="1150" dirty="0"/>
          </a:p>
        </p:txBody>
      </p:sp>
      <p:sp>
        <p:nvSpPr>
          <p:cNvPr id="19" name="Shape 17"/>
          <p:cNvSpPr/>
          <p:nvPr/>
        </p:nvSpPr>
        <p:spPr>
          <a:xfrm>
            <a:off x="621792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index.css</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Boots the Tailwind CSS base, components, and utilities directives. Imported in main.jsx as the foundational stylesheet. Enables every Tailwind utility class used throughout components and pages.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Context Files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src/context — global state management providers</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AuthContext.jsx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Handles authentication state, persistence, and profile updates via AuthProvider/useAuth. Manages user, loading, and error state, calling login/register/getProfile/updateProfile. Reads and writes JWT tokens in localStorage and exposes a derived isAdmin flag.</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BookContext.jsx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Manages the catalog, categories, and order history via BookProvider/useBooks. Exposes fetchBooks, addBook, updateBook, deleteBook, placeOrder, and updateOrderStatus. Refreshes stock after checkouts and supplies data to nearly every page.</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CartContext.jsx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Manages the local shopping cart, quantity caps, and price totals via CartProvider/useCart. Auto-syncs cartItems with localStorage (bookstore_cart). Provides addToCart, removeFromCart, updateQuantity, clearCart, plus derived cartCount and cartTotal.</a:t>
            </a:r>
            <a:endParaRPr lang="en-US" sz="1150" dirty="0"/>
          </a:p>
        </p:txBody>
      </p:sp>
      <p:sp>
        <p:nvSpPr>
          <p:cNvPr id="19" name="Text 17"/>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Layout &amp; Route Files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src/layouts and src/routes — structural wrappers and path mapping</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MainLayout.jsx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Wraps all public-facing pages with a consistent shell. Places Navbar at top, a fade-in animated content area in the middle, and Footer at the bottom. Accepts children as its only prop; used for every customer-facing route.</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AdminLayout.jsx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Wraps the administrative console pages. Displays the top Navbar alongside a persistent Sidebar-controlled content area. Accepts children as its only prop; used for AdminDashboard, ManageBooks, and ManageOrders.</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AppRoutes.jsx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Master routing configuration mapping every URL path to its page, layout, and guard. Wraps routes in MainLayout/AdminLayout plus ProtectedRoute/AdminRoute where required. The central place to register any new page.</a:t>
            </a:r>
            <a:endParaRPr lang="en-US" sz="1150" dirty="0"/>
          </a:p>
        </p:txBody>
      </p:sp>
      <p:sp>
        <p:nvSpPr>
          <p:cNvPr id="19" name="Text 17"/>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Service Files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src/services — API client and fallback data</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api.js</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Configures the shared Axios instance, base URL, and response mapping. Includes mapId (converts MongoDB _id to id) and a request interceptor that reads the JWT from localStorage and injects it as a Bearer token. The hub every context uses to reach the backend.</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dummyData.js</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Static fallback list of starter book items and mock reviews. Used when the backend is unavailable or during local development/demos. Keeps the UI populated with realistic content without a live database.</a:t>
            </a:r>
            <a:endParaRPr lang="en-US" sz="1150" dirty="0"/>
          </a:p>
        </p:txBody>
      </p:sp>
      <p:sp>
        <p:nvSpPr>
          <p:cNvPr id="14" name="Text 1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Components — Guards &amp; 3D</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src/components (1 of 4) — route protection and the 3D centerpiece</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AdminRoute.jsx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Restricts page access to administrator accounts. Reads user and loading from AuthContext; shows a Loader ("Verifying admin credentials...") while checking. Redirects to / if user is null or user.role isn't 'admin'.</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ProtectedRoute.jsx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Restricts page access to logged-in users. Reads user and loading from AuthContext, showing a Loader ("Verifying session..."). Redirects guests to /login, saving the attempted URL in location.state so they return after logging in.</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Book3D.jsx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Renders the interactive 3D leather book centerpiece with React Three Fiber. Takes title, coverColor, and accentColor props; generates leather/grain/gold-foil textures on HTML canvases instead of loading assets. Tracks isHovered, rotation, and isFlipped state.</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BookCard.jsx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Renders an individual catalog card for the books grid from a single book prop. Uses the useCart hook to trigger addToCart() directly. Also links through to that book's detailed page view when clicked.</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Components — Filters &amp; Chrome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src/components (2 of 4) — filtering, cursor, and page chrome</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CategoryFilter.jsx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Horizontal chip bar for filtering the catalog by genre. Accepts categories, selectedCategory, and onSelectCategory props. Reports the newly selected genre back to its parent, typically synced into URL query params.</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CustomCursor.jsx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Renders a magnetic custom pointer with an inner dot and outer ring. Hooks into mouse coordinates and uses requestAnimationFrame for smooth tracking without extra re-renders. Expands its hover diameter over clickable elements.</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Footer.jsx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Responsive site footer shown at the bottom of every MainLayout page. Contains standard site links and branding information. Purely presentational, with no internal state or props.</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Loader.jsx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General-purpose activity spinner accepting a single message prop. Used throughout the app — route guards, forms, data fetches — to communicate loading states. Lightweight and reused across many contexts.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Components — Navigation &amp; Orders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src/components (3 of 4) — header, order cards, and pagination</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Navbar.jsx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Main sticky header with branding, search, account menu, and cart badge. Reads user from AuthContext and cartCount from CartContext to personalize the display. Toggles responsive panels and redirects search queries to Books.</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OrderCard.jsx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Displays order details for both customers and admins. Accepts order, isAdmin, and onStatusUpdate props. When isAdmin is true, exposes controls letting admins update the shipping status directly from the card.</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PageLoader.jsx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Full-screen preloader shown during initial application startup or major route transitions. Purely presentational, covering the entire viewport until content is ready. Complements the smaller inline Loader.</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Pagination.jsx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Renders page navigation controls for the catalog browsing grid. Accepts currentPage, totalPages, and onPageChange props. Used by the Books page to slice long catalog lists into manageable pages.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Components — Background &amp; Tilt</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src/components (4 of 4) — particles, search, sidebar, tilt effect</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Particles3D.jsx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Renders a floating 3D particle field as an ambient background using Three.js. Displays roughly 800 blue, cyan, and purple points rotating slowly within a spherical volume with additive blending. Purely decorative on the Home page.</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SearchBar.jsx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Simple text input block for filtering catalog queries. Accepts value and onChange props, kept intentionally minimal so it can be reused across the Navbar and Books page. Filtering logic lives in the parent.</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Sidebar.jsx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Persistent navigation sidebar for the administrative console. Lets admins move between dashboard statistics, inventory management, and order panels. Rendered inside AdminLayout for every admin route.</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TiltCard.jsx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Framer Motion wrapper adding a mouse-following tilt and reflection glare to its children. Accepts children and className props, driving x/y coordinates and rotateX/rotateY springs via useRef. Adds depth to Home feature cards.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Pages — Shopping Flow</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src/pages (1 of 3) — landing, browsing, and product detail</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Home.jsx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Responsive landing page featuring the interactive Book3D centerpiece and Particles3D background. Loads the books list from BookContext to surface featured titles. Combines TiltCard feature blocks with Framer Motion/GSAP transitions.</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Books.jsx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Main shop browsing page with search, category filtering, and pagination. Reads the full catalog from BookContext and manages local UI state for the active query and category. Slices filtered results into paginated BookCard grids.</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BookDetails.jsx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Full detail view for a single book, resolved from the :id URL parameter. Pulls the matching book from BookContext and cart actions from CartContext. Displays price, rating, reviews, stock status, and add-to-cart controls.</a:t>
            </a:r>
            <a:endParaRPr lang="en-US" sz="1150" dirty="0"/>
          </a:p>
        </p:txBody>
      </p:sp>
      <p:sp>
        <p:nvSpPr>
          <p:cNvPr id="19" name="Shape 17"/>
          <p:cNvSpPr/>
          <p:nvPr/>
        </p:nvSpPr>
        <p:spPr>
          <a:xfrm>
            <a:off x="621792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Cart.jsx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Interactive shopping cart inspector page backed entirely by CartContext. Lets users adjust quantities, remove individual items, or clear the cart outright. Provides the entry point into the Checkout flow.</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Pages — Checkout &amp; Account</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src/pages (2 of 3) — checkout, profile, and authentication</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Checkout.jsx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Shipping details form that finalizes an order. Reads cart totals and items from CartContext and submits the order via BookContext's placeOrder action. Validates input fields and clears the cart automatically on success.</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Profile.jsx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Account dashboard showing the logged-in user's profile and order history. Combines AuthContext (profile data) with BookContext (orders), filtering orders by the customer's email. Also allows profile detail updates.</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Login.jsx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Session login form authenticating against AuthContext. Validates submitted credentials and, on success, redirects the user back to their originally attempted page or to home. Displays contextual error messages on failure.</a:t>
            </a:r>
            <a:endParaRPr lang="en-US" sz="1150" dirty="0"/>
          </a:p>
        </p:txBody>
      </p:sp>
      <p:sp>
        <p:nvSpPr>
          <p:cNvPr id="19" name="Shape 17"/>
          <p:cNvSpPr/>
          <p:nvPr/>
        </p:nvSpPr>
        <p:spPr>
          <a:xfrm>
            <a:off x="621792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Register.jsx</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New account registration form. Validates submitted details, registers the user through AuthContext, and automatically logs them in afterward. Shares much of its form-handling logic with Login.jsx.</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3. Pages — Admin Console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src/pages (3 of 3) — dashboard, catalog, and order management</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AdminDashboard.jsx</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Administrative landing page summarizing store-wide statistics. Pulls orders, totals, categories, and inventory counts from BookContext to build summary grids and totals graphs, plus a list of the most recent orders.</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ManageBooks.jsx</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Admin catalog editor for creating, updating, and deleting books. Displays the full catalog in an editable grid and manages add/edit modal forms, calling BookContext's addBook/updateBook/deleteBook actions.</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ManageOrders.jsx</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Admin panel for reviewing and updating the fulfillment status of every customer order. Lists all orders from BookContext and lets admins step each one through statuses such as Pending, Shipped, and Delivered.</a:t>
            </a:r>
            <a:endParaRPr lang="en-US" sz="1150" dirty="0"/>
          </a:p>
        </p:txBody>
      </p:sp>
      <p:sp>
        <p:nvSpPr>
          <p:cNvPr id="19" name="Text 17"/>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4. Component API &amp; Specification</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Prop and hook contracts for the four core reusable components</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Book3D</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Props: title (string), coverColor (hex), accentColor (hex). State: isHovered, rotation (THREE.Euler), isFlipped. Hooks: useRef, useMemo, useEffect, useFrame.</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TiltCard</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Props: children (ReactNode), className (string). No internal state; driven by Framer Motion x/y values and rotateX/rotateY springs. Hook: useRef.</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BookCard</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Props: book (object). No internal state — consumes the global CartContext. Hook: useCart.</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CategoryFilter</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Props: categories (array), selectedCategory (string), onSelectCategory (function). Stateless — reports selection changes upward for URL param syncing.</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5. Routing Architecture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AppRoutes.jsx — path-to-page mapping with layout and guard wrappers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3566160"/>
        </p:xfrm>
        <a:graphic>
          <a:graphicData uri="http://schemas.openxmlformats.org/drawingml/2006/table">
            <a:tbl>
              <a:tblPr/>
              <a:tblGrid>
                <a:gridCol w="1737360"/>
                <a:gridCol w="2194560"/>
                <a:gridCol w="1828800"/>
                <a:gridCol w="2286000"/>
                <a:gridCol w="1371600"/>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Route Path</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Page</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Layout</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Guard</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Access</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Home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/books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Books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/book/:id</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BookDetails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/cart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Cart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/login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Login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Guest Only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Guest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/register</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Register</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Guest Only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Guest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/checkout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Checkout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ProtectedRoute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Customer</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ProtectedRoute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Customer</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AdminDashboard</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AdminRoute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/admin/books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ManageBooks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AdminRoute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/admin/orders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ManageOrders</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AdminRoute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Admin</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Redirect → /</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MainLayout</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100" dirty="0">
                          <a:solidFill>
                            <a:srgbClr val="1E1B2E"/>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bl>
          </a:graphicData>
        </a:graphic>
      </p:graphicFrame>
      <p:sp>
        <p:nvSpPr>
          <p:cNvPr id="5" name="Text 2"/>
          <p:cNvSpPr/>
          <p:nvPr/>
        </p:nvSpPr>
        <p:spPr>
          <a:xfrm>
            <a:off x="457200" y="4983480"/>
            <a:ext cx="3657600" cy="320040"/>
          </a:xfrm>
          <a:prstGeom prst="rect">
            <a:avLst/>
          </a:prstGeom>
          <a:noFill/>
          <a:ln/>
        </p:spPr>
        <p:txBody>
          <a:bodyPr wrap="square" lIns="0" tIns="0" rIns="0" bIns="0" rtlCol="0" anchor="ctr"/>
          <a:lstStyle/>
          <a:p>
            <a:pPr indent="0" marL="0">
              <a:buNone/>
            </a:pPr>
            <a:r>
              <a:rPr lang="en-US" sz="1400" b="1" dirty="0">
                <a:solidFill>
                  <a:srgbClr val="4F46E5"/>
                </a:solidFill>
                <a:latin typeface="Cambria" pitchFamily="34" charset="0"/>
                <a:ea typeface="Cambria" pitchFamily="34" charset="-122"/>
                <a:cs typeface="Cambria" pitchFamily="34" charset="-120"/>
              </a:rPr>
              <a:t>Guard behavior</a:t>
            </a:r>
            <a:endParaRPr lang="en-US" sz="1400" dirty="0"/>
          </a:p>
        </p:txBody>
      </p:sp>
      <p:sp>
        <p:nvSpPr>
          <p:cNvPr id="6" name="Text 3"/>
          <p:cNvSpPr/>
          <p:nvPr/>
        </p:nvSpPr>
        <p:spPr>
          <a:xfrm>
            <a:off x="457200" y="5303520"/>
            <a:ext cx="11247120" cy="1097280"/>
          </a:xfrm>
          <a:prstGeom prst="rect">
            <a:avLst/>
          </a:prstGeom>
          <a:noFill/>
          <a:ln/>
        </p:spPr>
        <p:txBody>
          <a:bodyPr wrap="square" lIns="0" tIns="0" rIns="0" bIns="0" rtlCol="0" anchor="ctr"/>
          <a:lstStyle/>
          <a:p>
            <a:pPr indent="0" marL="0">
              <a:lnSpc>
                <a:spcPct val="120000"/>
              </a:lnSpc>
              <a:buNone/>
            </a:pPr>
            <a:r>
              <a:rPr lang="en-US" sz="1200" b="1" dirty="0">
                <a:solidFill>
                  <a:srgbClr val="2E1065"/>
                </a:solidFill>
                <a:latin typeface="Calibri" pitchFamily="34" charset="0"/>
                <a:ea typeface="Calibri" pitchFamily="34" charset="-122"/>
                <a:cs typeface="Calibri" pitchFamily="34" charset="-120"/>
              </a:rPr>
              <a:t>ProtectedRoute — </a:t>
            </a:r>
            <a:pPr indent="0" marL="0">
              <a:lnSpc>
                <a:spcPct val="120000"/>
              </a:lnSpc>
              <a:buNone/>
            </a:pPr>
            <a:r>
              <a:rPr lang="en-US" sz="1200" dirty="0">
                <a:solidFill>
                  <a:srgbClr val="1E1B2E"/>
                </a:solidFill>
                <a:latin typeface="Calibri" pitchFamily="34" charset="0"/>
                <a:ea typeface="Calibri" pitchFamily="34" charset="-122"/>
                <a:cs typeface="Calibri" pitchFamily="34" charset="-120"/>
              </a:rPr>
              <a:t>shows a Loader while checking session; redirects guests to /login, saving the attempted URL in location.state.</a:t>
            </a:r>
            <a:pPr indent="0" marL="0">
              <a:lnSpc>
                <a:spcPct val="120000"/>
              </a:lnSpc>
              <a:buNone/>
            </a:pPr>
            <a:endParaRPr lang="en-US" sz="1200" dirty="0"/>
          </a:p>
          <a:p>
            <a:pPr indent="0" marL="0">
              <a:lnSpc>
                <a:spcPct val="120000"/>
              </a:lnSpc>
              <a:buNone/>
            </a:pPr>
            <a:endParaRPr lang="en-US" sz="1200" dirty="0"/>
          </a:p>
          <a:p>
            <a:pPr indent="0" marL="0">
              <a:lnSpc>
                <a:spcPct val="120000"/>
              </a:lnSpc>
              <a:buNone/>
            </a:pPr>
            <a:r>
              <a:rPr lang="en-US" sz="1200" b="1" dirty="0">
                <a:solidFill>
                  <a:srgbClr val="2E1065"/>
                </a:solidFill>
                <a:latin typeface="Calibri" pitchFamily="34" charset="0"/>
                <a:ea typeface="Calibri" pitchFamily="34" charset="-122"/>
                <a:cs typeface="Calibri" pitchFamily="34" charset="-120"/>
              </a:rPr>
              <a:t>AdminRoute — </a:t>
            </a:r>
            <a:endParaRPr lang="en-US" sz="1200" dirty="0"/>
          </a:p>
          <a:p>
            <a:pPr indent="0" marL="0">
              <a:lnSpc>
                <a:spcPct val="120000"/>
              </a:lnSpc>
              <a:buNone/>
            </a:pPr>
            <a:r>
              <a:rPr lang="en-US" sz="1200" dirty="0">
                <a:solidFill>
                  <a:srgbClr val="1E1B2E"/>
                </a:solidFill>
                <a:latin typeface="Calibri" pitchFamily="34" charset="0"/>
                <a:ea typeface="Calibri" pitchFamily="34" charset="-122"/>
                <a:cs typeface="Calibri" pitchFamily="34" charset="-120"/>
              </a:rPr>
              <a:t>shows a Loader while verifying admin credentials; redirects to / if user is null or not role 'admin'.</a:t>
            </a:r>
            <a:endParaRPr lang="en-US" sz="1200" dirty="0"/>
          </a:p>
        </p:txBody>
      </p:sp>
      <p:sp>
        <p:nvSpPr>
          <p:cNvPr id="7" name="Text 4"/>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6. State Management — Context API</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Global state is split across three providers</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AuthContext</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Manages user, loading, and error state. Actions: login(email, password) stores the JWT in localStorage (bookstore_token); register(name, email, password) creates and signs in a new account; logout() clears the token; updateProfile(data) updates account details. Derived isAdmin = user.role === 'admin'.</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BookContext</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Manages books, orders, categories, loading, and error. Actions: fetchBooks/fetchOrders re-fetch tables; addBook/updateBook/deleteBook manage the catalog; placeOrder submits an order and refreshes stock; updateOrderStatus changes fulfillment status (Pending → Shipped → Delivered).</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CartContext</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Manages cartItems (bookId, title, price, coverUrl, quantity, stock). Auto-loads from and syncs to localStorage (bookstore_cart) on every change. Actions: addToCart, removeFromCart, updateQuantity (capped by stock, removes at ≤0), clearCart. Derives cartCount and cartTotal.</a:t>
            </a:r>
            <a:endParaRPr lang="en-US" sz="1150" dirty="0"/>
          </a:p>
        </p:txBody>
      </p:sp>
      <p:sp>
        <p:nvSpPr>
          <p:cNvPr id="19" name="Text 17"/>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7. API Integration — Axios Client</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services/api.js — shared instance, interceptor, and error handling</a:t>
            </a:r>
            <a:endParaRPr lang="en-US" sz="1300" dirty="0"/>
          </a:p>
        </p:txBody>
      </p:sp>
      <p:sp>
        <p:nvSpPr>
          <p:cNvPr id="4" name="Shape 2"/>
          <p:cNvSpPr/>
          <p:nvPr/>
        </p:nvSpPr>
        <p:spPr>
          <a:xfrm>
            <a:off x="457200" y="1188720"/>
            <a:ext cx="5577840" cy="4297680"/>
          </a:xfrm>
          <a:prstGeom prst="roundRect">
            <a:avLst>
              <a:gd name="adj" fmla="val 1702"/>
            </a:avLst>
          </a:prstGeom>
          <a:solidFill>
            <a:srgbClr val="1E1B2E"/>
          </a:solidFill>
          <a:ln/>
          <a:effectLst>
            <a:outerShdw sx="100000" sy="100000" kx="0" ky="0" algn="bl" rotWithShape="0" blurRad="76200" dist="25400" dir="2700000">
              <a:srgbClr val="000000">
                <a:alpha val="12000"/>
              </a:srgbClr>
            </a:outerShdw>
          </a:effectLst>
        </p:spPr>
      </p:sp>
      <p:sp>
        <p:nvSpPr>
          <p:cNvPr id="5" name="Text 3"/>
          <p:cNvSpPr/>
          <p:nvPr/>
        </p:nvSpPr>
        <p:spPr>
          <a:xfrm>
            <a:off x="731520" y="1371600"/>
            <a:ext cx="5029200" cy="320040"/>
          </a:xfrm>
          <a:prstGeom prst="rect">
            <a:avLst/>
          </a:prstGeom>
          <a:noFill/>
          <a:ln/>
        </p:spPr>
        <p:txBody>
          <a:bodyPr wrap="square" lIns="0" tIns="0" rIns="0" bIns="0" rtlCol="0" anchor="ctr"/>
          <a:lstStyle/>
          <a:p>
            <a:pPr indent="0" marL="0">
              <a:buNone/>
            </a:pPr>
            <a:r>
              <a:rPr lang="en-US" sz="1300" b="1" dirty="0">
                <a:solidFill>
                  <a:srgbClr val="FBBF24"/>
                </a:solidFill>
                <a:latin typeface="Cambria" pitchFamily="34" charset="0"/>
                <a:ea typeface="Cambria" pitchFamily="34" charset="-122"/>
                <a:cs typeface="Cambria" pitchFamily="34" charset="-120"/>
              </a:rPr>
              <a:t>Axios instance</a:t>
            </a:r>
            <a:endParaRPr lang="en-US" sz="1300" dirty="0"/>
          </a:p>
        </p:txBody>
      </p:sp>
      <p:sp>
        <p:nvSpPr>
          <p:cNvPr id="6" name="Text 4"/>
          <p:cNvSpPr/>
          <p:nvPr/>
        </p:nvSpPr>
        <p:spPr>
          <a:xfrm>
            <a:off x="731520" y="1737360"/>
            <a:ext cx="5029200" cy="1280160"/>
          </a:xfrm>
          <a:prstGeom prst="rect">
            <a:avLst/>
          </a:prstGeom>
          <a:noFill/>
          <a:ln/>
        </p:spPr>
        <p:txBody>
          <a:bodyPr wrap="square" lIns="0" tIns="0" rIns="0" bIns="0" rtlCol="0" anchor="ctr"/>
          <a:lstStyle/>
          <a:p>
            <a:pPr indent="0" marL="0">
              <a:buNone/>
            </a:pPr>
            <a:r>
              <a:rPr lang="en-US" sz="1050" dirty="0">
                <a:solidFill>
                  <a:srgbClr val="E8E4FA"/>
                </a:solidFill>
                <a:latin typeface="Courier New" pitchFamily="34" charset="0"/>
                <a:ea typeface="Courier New" pitchFamily="34" charset="-122"/>
                <a:cs typeface="Courier New" pitchFamily="34" charset="-120"/>
              </a:rPr>
              <a:t>const API_URL = import.meta.env.VITE_API_URL</a:t>
            </a:r>
            <a:endParaRPr lang="en-US" sz="1050" dirty="0"/>
          </a:p>
          <a:p>
            <a:pPr indent="0" marL="0">
              <a:buNone/>
            </a:pPr>
            <a:r>
              <a:rPr lang="en-US" sz="1050" dirty="0">
                <a:solidFill>
                  <a:srgbClr val="E8E4FA"/>
                </a:solidFill>
                <a:latin typeface="Courier New" pitchFamily="34" charset="0"/>
                <a:ea typeface="Courier New" pitchFamily="34" charset="-122"/>
                <a:cs typeface="Courier New" pitchFamily="34" charset="-120"/>
              </a:rPr>
              <a:t>  || 'http://localhost:5000/api';</a:t>
            </a:r>
            <a:endParaRPr lang="en-US" sz="1050" dirty="0"/>
          </a:p>
          <a:p>
            <a:pPr indent="0" marL="0">
              <a:buNone/>
            </a:pPr>
            <a:endParaRPr lang="en-US" sz="1050" dirty="0"/>
          </a:p>
          <a:p>
            <a:pPr indent="0" marL="0">
              <a:buNone/>
            </a:pPr>
            <a:r>
              <a:rPr lang="en-US" sz="1050" dirty="0">
                <a:solidFill>
                  <a:srgbClr val="E8E4FA"/>
                </a:solidFill>
                <a:latin typeface="Courier New" pitchFamily="34" charset="0"/>
                <a:ea typeface="Courier New" pitchFamily="34" charset="-122"/>
                <a:cs typeface="Courier New" pitchFamily="34" charset="-120"/>
              </a:rPr>
              <a:t>const axiosInstance = axios.create({</a:t>
            </a:r>
            <a:endParaRPr lang="en-US" sz="1050" dirty="0"/>
          </a:p>
          <a:p>
            <a:pPr indent="0" marL="0">
              <a:buNone/>
            </a:pPr>
            <a:r>
              <a:rPr lang="en-US" sz="1050" dirty="0">
                <a:solidFill>
                  <a:srgbClr val="E8E4FA"/>
                </a:solidFill>
                <a:latin typeface="Courier New" pitchFamily="34" charset="0"/>
                <a:ea typeface="Courier New" pitchFamily="34" charset="-122"/>
                <a:cs typeface="Courier New" pitchFamily="34" charset="-120"/>
              </a:rPr>
              <a:t>  baseURL: API_URL,</a:t>
            </a:r>
            <a:endParaRPr lang="en-US" sz="1050" dirty="0"/>
          </a:p>
          <a:p>
            <a:pPr indent="0" marL="0">
              <a:buNone/>
            </a:pPr>
            <a:r>
              <a:rPr lang="en-US" sz="1050" dirty="0">
                <a:solidFill>
                  <a:srgbClr val="E8E4FA"/>
                </a:solidFill>
                <a:latin typeface="Courier New" pitchFamily="34" charset="0"/>
                <a:ea typeface="Courier New" pitchFamily="34" charset="-122"/>
                <a:cs typeface="Courier New" pitchFamily="34" charset="-120"/>
              </a:rPr>
              <a:t>  headers: { 'Content-Type': 'application/json' },</a:t>
            </a:r>
            <a:endParaRPr lang="en-US" sz="1050" dirty="0"/>
          </a:p>
          <a:p>
            <a:pPr indent="0" marL="0">
              <a:buNone/>
            </a:pPr>
            <a:r>
              <a:rPr lang="en-US" sz="1050" dirty="0">
                <a:solidFill>
                  <a:srgbClr val="E8E4FA"/>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731520" y="3200400"/>
            <a:ext cx="5029200" cy="320040"/>
          </a:xfrm>
          <a:prstGeom prst="rect">
            <a:avLst/>
          </a:prstGeom>
          <a:noFill/>
          <a:ln/>
        </p:spPr>
        <p:txBody>
          <a:bodyPr wrap="square" lIns="0" tIns="0" rIns="0" bIns="0" rtlCol="0" anchor="ctr"/>
          <a:lstStyle/>
          <a:p>
            <a:pPr indent="0" marL="0">
              <a:buNone/>
            </a:pPr>
            <a:r>
              <a:rPr lang="en-US" sz="1300" b="1" dirty="0">
                <a:solidFill>
                  <a:srgbClr val="FBBF24"/>
                </a:solidFill>
                <a:latin typeface="Cambria" pitchFamily="34" charset="0"/>
                <a:ea typeface="Cambria" pitchFamily="34" charset="-122"/>
                <a:cs typeface="Cambria" pitchFamily="34" charset="-120"/>
              </a:rPr>
              <a:t>Request interceptor (JWT)</a:t>
            </a:r>
            <a:endParaRPr lang="en-US" sz="1300" dirty="0"/>
          </a:p>
        </p:txBody>
      </p:sp>
      <p:sp>
        <p:nvSpPr>
          <p:cNvPr id="8" name="Text 6"/>
          <p:cNvSpPr/>
          <p:nvPr/>
        </p:nvSpPr>
        <p:spPr>
          <a:xfrm>
            <a:off x="731520" y="3566160"/>
            <a:ext cx="5029200" cy="1828800"/>
          </a:xfrm>
          <a:prstGeom prst="rect">
            <a:avLst/>
          </a:prstGeom>
          <a:noFill/>
          <a:ln/>
        </p:spPr>
        <p:txBody>
          <a:bodyPr wrap="square" lIns="0" tIns="0" rIns="0" bIns="0" rtlCol="0" anchor="ctr"/>
          <a:lstStyle/>
          <a:p>
            <a:pPr indent="0" marL="0">
              <a:buNone/>
            </a:pPr>
            <a:r>
              <a:rPr lang="en-US" sz="1000" dirty="0">
                <a:solidFill>
                  <a:srgbClr val="E8E4FA"/>
                </a:solidFill>
                <a:latin typeface="Courier New" pitchFamily="34" charset="0"/>
                <a:ea typeface="Courier New" pitchFamily="34" charset="-122"/>
                <a:cs typeface="Courier New" pitchFamily="34" charset="-120"/>
              </a:rPr>
              <a:t>axiosInstance.interceptors.request.use(</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(config) =&gt; {</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const token = localStorage.getItem(</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'bookstore_token');</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if (token) {</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config.headers.Authorization =</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`Bearer ${token}`;</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return config;</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E8E4FA"/>
                </a:solidFill>
                <a:latin typeface="Courier New" pitchFamily="34" charset="0"/>
                <a:ea typeface="Courier New" pitchFamily="34" charset="-122"/>
                <a:cs typeface="Courier New" pitchFamily="34" charset="-120"/>
              </a:rPr>
              <a:t>);</a:t>
            </a:r>
            <a:endParaRPr lang="en-US" sz="1000" dirty="0"/>
          </a:p>
        </p:txBody>
      </p:sp>
      <p:sp>
        <p:nvSpPr>
          <p:cNvPr id="9" name="Text 7"/>
          <p:cNvSpPr/>
          <p:nvPr/>
        </p:nvSpPr>
        <p:spPr>
          <a:xfrm>
            <a:off x="6309360" y="1188720"/>
            <a:ext cx="5394960" cy="320040"/>
          </a:xfrm>
          <a:prstGeom prst="rect">
            <a:avLst/>
          </a:prstGeom>
          <a:noFill/>
          <a:ln/>
        </p:spPr>
        <p:txBody>
          <a:bodyPr wrap="square" lIns="0" tIns="0" rIns="0" bIns="0" rtlCol="0" anchor="ctr"/>
          <a:lstStyle/>
          <a:p>
            <a:pPr indent="0" marL="0">
              <a:buNone/>
            </a:pPr>
            <a:r>
              <a:rPr lang="en-US" sz="1400" b="1" dirty="0">
                <a:solidFill>
                  <a:srgbClr val="4F46E5"/>
                </a:solidFill>
                <a:latin typeface="Cambria" pitchFamily="34" charset="0"/>
                <a:ea typeface="Cambria" pitchFamily="34" charset="-122"/>
                <a:cs typeface="Cambria" pitchFamily="34" charset="-120"/>
              </a:rPr>
              <a:t>Key responsibilities</a:t>
            </a:r>
            <a:endParaRPr lang="en-US" sz="1400" dirty="0"/>
          </a:p>
        </p:txBody>
      </p:sp>
      <p:sp>
        <p:nvSpPr>
          <p:cNvPr id="10" name="Text 8"/>
          <p:cNvSpPr/>
          <p:nvPr/>
        </p:nvSpPr>
        <p:spPr>
          <a:xfrm>
            <a:off x="6309360" y="1600200"/>
            <a:ext cx="5394960" cy="2926080"/>
          </a:xfrm>
          <a:prstGeom prst="rect">
            <a:avLst/>
          </a:prstGeom>
          <a:noFill/>
          <a:ln/>
        </p:spPr>
        <p:txBody>
          <a:bodyPr wrap="square" rtlCol="0" anchor="t"/>
          <a:lstStyle/>
          <a:p>
            <a:pPr marL="342900" indent="-342900">
              <a:lnSpc>
                <a:spcPct val="130000"/>
              </a:lnSpc>
              <a:buSzPct val="100000"/>
              <a:buChar char="•"/>
            </a:pPr>
            <a:r>
              <a:rPr lang="en-US" sz="1300" dirty="0">
                <a:solidFill>
                  <a:srgbClr val="1E1B2E"/>
                </a:solidFill>
                <a:latin typeface="Calibri" pitchFamily="34" charset="0"/>
                <a:ea typeface="Calibri" pitchFamily="34" charset="-122"/>
                <a:cs typeface="Calibri" pitchFamily="34" charset="-120"/>
              </a:rPr>
              <a:t>mapId() replaces MongoDB's _id with id across all response payloads</a:t>
            </a:r>
            <a:endParaRPr lang="en-US" sz="1300" dirty="0"/>
          </a:p>
          <a:p>
            <a:pPr marL="342900" indent="-342900">
              <a:lnSpc>
                <a:spcPct val="130000"/>
              </a:lnSpc>
              <a:buSzPct val="100000"/>
              <a:buChar char="•"/>
            </a:pPr>
            <a:r>
              <a:rPr lang="en-US" sz="1300" dirty="0">
                <a:solidFill>
                  <a:srgbClr val="1E1B2E"/>
                </a:solidFill>
                <a:latin typeface="Calibri" pitchFamily="34" charset="0"/>
                <a:ea typeface="Calibri" pitchFamily="34" charset="-122"/>
                <a:cs typeface="Calibri" pitchFamily="34" charset="-120"/>
              </a:rPr>
              <a:t>Interceptor reads the JWT from localStorage and attaches it as a Bearer token to every outgoing request</a:t>
            </a:r>
            <a:endParaRPr lang="en-US" sz="1300" dirty="0"/>
          </a:p>
          <a:p>
            <a:pPr marL="342900" indent="-342900">
              <a:lnSpc>
                <a:spcPct val="130000"/>
              </a:lnSpc>
              <a:buSzPct val="100000"/>
              <a:buChar char="•"/>
            </a:pPr>
            <a:r>
              <a:rPr lang="en-US" sz="1300" dirty="0">
                <a:solidFill>
                  <a:srgbClr val="1E1B2E"/>
                </a:solidFill>
                <a:latin typeface="Calibri" pitchFamily="34" charset="0"/>
                <a:ea typeface="Calibri" pitchFamily="34" charset="-122"/>
                <a:cs typeface="Calibri" pitchFamily="34" charset="-120"/>
              </a:rPr>
              <a:t>dummyData.js supplies fallback catalog items when the backend is unreachable</a:t>
            </a:r>
            <a:endParaRPr lang="en-US" sz="1300" dirty="0"/>
          </a:p>
          <a:p>
            <a:pPr marL="342900" indent="-342900">
              <a:lnSpc>
                <a:spcPct val="130000"/>
              </a:lnSpc>
              <a:buSzPct val="100000"/>
              <a:buChar char="•"/>
            </a:pPr>
            <a:r>
              <a:rPr lang="en-US" sz="1300" dirty="0">
                <a:solidFill>
                  <a:srgbClr val="1E1B2E"/>
                </a:solidFill>
                <a:latin typeface="Calibri" pitchFamily="34" charset="0"/>
                <a:ea typeface="Calibri" pitchFamily="34" charset="-122"/>
                <a:cs typeface="Calibri" pitchFamily="34" charset="-120"/>
              </a:rPr>
              <a:t>Context providers catch API errors and surface them via context error state for user-friendly messages</a:t>
            </a:r>
            <a:endParaRPr lang="en-US" sz="1300" dirty="0"/>
          </a:p>
        </p:txBody>
      </p:sp>
      <p:sp>
        <p:nvSpPr>
          <p:cNvPr id="11" name="Text 9"/>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7. API Integration — Consumed Endpoints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REST endpoints called by context providers via the Axios client</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5120640"/>
        </p:xfrm>
        <a:graphic>
          <a:graphicData uri="http://schemas.openxmlformats.org/drawingml/2006/table">
            <a:tbl>
              <a:tblPr/>
              <a:tblGrid>
                <a:gridCol w="3017520"/>
                <a:gridCol w="1463040"/>
                <a:gridCol w="1463040"/>
                <a:gridCol w="530352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Endpoint</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Auth</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2E1065"/>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/auth/register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POST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User registration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/auth/login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POST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User authentication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/auth/me</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GET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Fetch active user profile</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/auth/me</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PUT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Update account info</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/books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GET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Fetch all books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/books/:id</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GET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Fetch individual book details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/books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POST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Create book (admin)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/books/:id</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PUT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Update book details (admin)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/books/:id</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DELETE</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Delete book (admin)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/orders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GET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Fetch all orders (admin)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/orders/my</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GET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Fetch customer order history</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/orders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POST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Create order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5F3FF"/>
                    </a:solidFill>
                  </a:tcPr>
                </a:tc>
              </a:tr>
              <a:tr h="365760">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/orders/:id/status</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PUT</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Bearer</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080" dirty="0">
                          <a:solidFill>
                            <a:srgbClr val="1E1B2E"/>
                          </a:solidFill>
                          <a:latin typeface="Calibri" pitchFamily="34" charset="0"/>
                          <a:ea typeface="Calibri" pitchFamily="34" charset="-122"/>
                          <a:cs typeface="Calibri" pitchFamily="34" charset="-120"/>
                        </a:rPr>
                        <a:t>Update order status (admin)</a:t>
                      </a:r>
                      <a:endParaRPr lang="en-US" sz="1080" dirty="0">
                        <a:latin typeface="Calibri" charset="0"/>
                        <a:ea typeface="Calibri" charset="0"/>
                        <a:cs typeface="Calibri" charset="0"/>
                      </a:endParaRPr>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bl>
          </a:graphicData>
        </a:graphic>
      </p:graphicFrame>
      <p:sp>
        <p:nvSpPr>
          <p:cNvPr id="5" name="Text 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8. UI/UX, Animations &amp; the 3D Centerpiece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Custom design system, canvas-generated textures, and micro-animations</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Custom Design System</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Dark theme via CSS variables (--bg-primary #121212, --bg-secondary #0a0a0a) and indigo accents (--accent #4f46e5). Outfit for headings, Inter for body. Glassmorphism cards use backdrop-filter blur(20px) with translucent borders.</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Book3D.jsx Centerpiece</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React Three Fiber renders a 3D book model. Leather cover, grain, inner pages, gold-foil borders, and text lines are generated on HTML canvases and loaded as THREE.CanvasTexture — no external assets. Includes shadows, lighting, hover-rotate, and page-flip animation.</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Particles3D.jsx Background</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Additive-blend particle field rendering roughly 800 blue, cyan, and purple points that rotate slowly within a spherical volume, adding ambient depth behind the Home page content.</a:t>
            </a:r>
            <a:endParaRPr lang="en-US" sz="1150" dirty="0"/>
          </a:p>
        </p:txBody>
      </p:sp>
      <p:sp>
        <p:nvSpPr>
          <p:cNvPr id="19" name="Shape 17"/>
          <p:cNvSpPr/>
          <p:nvPr/>
        </p:nvSpPr>
        <p:spPr>
          <a:xfrm>
            <a:off x="621792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Micro-Animations</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Framer Motion drives layout transitions, search bar slide-overs, and floating text effects; GSAP powers structural transitions; the magnetic CustomCursor expands over clickable elements like buttons and links.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9. Data Flow — Authentication &amp; API Requests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How credentials are submitted, stored, and attached to later requests</a:t>
            </a:r>
            <a:endParaRPr lang="en-US" sz="1300" dirty="0"/>
          </a:p>
        </p:txBody>
      </p:sp>
      <p:sp>
        <p:nvSpPr>
          <p:cNvPr id="4" name="Shape 2"/>
          <p:cNvSpPr/>
          <p:nvPr/>
        </p:nvSpPr>
        <p:spPr>
          <a:xfrm>
            <a:off x="857250" y="1234440"/>
            <a:ext cx="2011680" cy="457200"/>
          </a:xfrm>
          <a:prstGeom prst="roundRect">
            <a:avLst>
              <a:gd name="adj" fmla="val 12000"/>
            </a:avLst>
          </a:prstGeom>
          <a:solidFill>
            <a:srgbClr val="4F46E5"/>
          </a:solidFill>
          <a:ln/>
        </p:spPr>
      </p:sp>
      <p:sp>
        <p:nvSpPr>
          <p:cNvPr id="5" name="Text 3"/>
          <p:cNvSpPr/>
          <p:nvPr/>
        </p:nvSpPr>
        <p:spPr>
          <a:xfrm>
            <a:off x="85725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Browser</a:t>
            </a:r>
            <a:endParaRPr lang="en-US" sz="1100" dirty="0"/>
          </a:p>
        </p:txBody>
      </p:sp>
      <p:sp>
        <p:nvSpPr>
          <p:cNvPr id="6" name="Shape 4"/>
          <p:cNvSpPr/>
          <p:nvPr/>
        </p:nvSpPr>
        <p:spPr>
          <a:xfrm>
            <a:off x="1863090" y="1691640"/>
            <a:ext cx="0" cy="4892040"/>
          </a:xfrm>
          <a:prstGeom prst="line">
            <a:avLst/>
          </a:prstGeom>
          <a:noFill/>
          <a:ln w="12700">
            <a:solidFill>
              <a:srgbClr val="D8D2F0"/>
            </a:solidFill>
            <a:prstDash val="dash"/>
          </a:ln>
        </p:spPr>
      </p:sp>
      <p:sp>
        <p:nvSpPr>
          <p:cNvPr id="7" name="Shape 5"/>
          <p:cNvSpPr/>
          <p:nvPr/>
        </p:nvSpPr>
        <p:spPr>
          <a:xfrm>
            <a:off x="3669030" y="1234440"/>
            <a:ext cx="2011680" cy="457200"/>
          </a:xfrm>
          <a:prstGeom prst="roundRect">
            <a:avLst>
              <a:gd name="adj" fmla="val 12000"/>
            </a:avLst>
          </a:prstGeom>
          <a:solidFill>
            <a:srgbClr val="4F46E5"/>
          </a:solidFill>
          <a:ln/>
        </p:spPr>
      </p:sp>
      <p:sp>
        <p:nvSpPr>
          <p:cNvPr id="8" name="Text 6"/>
          <p:cNvSpPr/>
          <p:nvPr/>
        </p:nvSpPr>
        <p:spPr>
          <a:xfrm>
            <a:off x="366903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AuthContext</a:t>
            </a:r>
            <a:endParaRPr lang="en-US" sz="1100" dirty="0"/>
          </a:p>
        </p:txBody>
      </p:sp>
      <p:sp>
        <p:nvSpPr>
          <p:cNvPr id="9" name="Shape 7"/>
          <p:cNvSpPr/>
          <p:nvPr/>
        </p:nvSpPr>
        <p:spPr>
          <a:xfrm>
            <a:off x="4674870" y="1691640"/>
            <a:ext cx="0" cy="4892040"/>
          </a:xfrm>
          <a:prstGeom prst="line">
            <a:avLst/>
          </a:prstGeom>
          <a:noFill/>
          <a:ln w="12700">
            <a:solidFill>
              <a:srgbClr val="D8D2F0"/>
            </a:solidFill>
            <a:prstDash val="dash"/>
          </a:ln>
        </p:spPr>
      </p:sp>
      <p:sp>
        <p:nvSpPr>
          <p:cNvPr id="10" name="Shape 8"/>
          <p:cNvSpPr/>
          <p:nvPr/>
        </p:nvSpPr>
        <p:spPr>
          <a:xfrm>
            <a:off x="6480810" y="1234440"/>
            <a:ext cx="2011680" cy="457200"/>
          </a:xfrm>
          <a:prstGeom prst="roundRect">
            <a:avLst>
              <a:gd name="adj" fmla="val 12000"/>
            </a:avLst>
          </a:prstGeom>
          <a:solidFill>
            <a:srgbClr val="4F46E5"/>
          </a:solidFill>
          <a:ln/>
        </p:spPr>
      </p:sp>
      <p:sp>
        <p:nvSpPr>
          <p:cNvPr id="11" name="Text 9"/>
          <p:cNvSpPr/>
          <p:nvPr/>
        </p:nvSpPr>
        <p:spPr>
          <a:xfrm>
            <a:off x="648081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api.js (Axios)</a:t>
            </a:r>
            <a:endParaRPr lang="en-US" sz="1100" dirty="0"/>
          </a:p>
        </p:txBody>
      </p:sp>
      <p:sp>
        <p:nvSpPr>
          <p:cNvPr id="12" name="Shape 10"/>
          <p:cNvSpPr/>
          <p:nvPr/>
        </p:nvSpPr>
        <p:spPr>
          <a:xfrm>
            <a:off x="7486650" y="1691640"/>
            <a:ext cx="0" cy="4892040"/>
          </a:xfrm>
          <a:prstGeom prst="line">
            <a:avLst/>
          </a:prstGeom>
          <a:noFill/>
          <a:ln w="12700">
            <a:solidFill>
              <a:srgbClr val="D8D2F0"/>
            </a:solidFill>
            <a:prstDash val="dash"/>
          </a:ln>
        </p:spPr>
      </p:sp>
      <p:sp>
        <p:nvSpPr>
          <p:cNvPr id="13" name="Shape 11"/>
          <p:cNvSpPr/>
          <p:nvPr/>
        </p:nvSpPr>
        <p:spPr>
          <a:xfrm>
            <a:off x="9292590" y="1234440"/>
            <a:ext cx="2011680" cy="457200"/>
          </a:xfrm>
          <a:prstGeom prst="roundRect">
            <a:avLst>
              <a:gd name="adj" fmla="val 12000"/>
            </a:avLst>
          </a:prstGeom>
          <a:solidFill>
            <a:srgbClr val="4F46E5"/>
          </a:solidFill>
          <a:ln/>
        </p:spPr>
      </p:sp>
      <p:sp>
        <p:nvSpPr>
          <p:cNvPr id="14" name="Text 12"/>
          <p:cNvSpPr/>
          <p:nvPr/>
        </p:nvSpPr>
        <p:spPr>
          <a:xfrm>
            <a:off x="929259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Express/MongoDB</a:t>
            </a:r>
            <a:endParaRPr lang="en-US" sz="1100" dirty="0"/>
          </a:p>
        </p:txBody>
      </p:sp>
      <p:sp>
        <p:nvSpPr>
          <p:cNvPr id="15" name="Shape 13"/>
          <p:cNvSpPr/>
          <p:nvPr/>
        </p:nvSpPr>
        <p:spPr>
          <a:xfrm>
            <a:off x="10298430" y="1691640"/>
            <a:ext cx="0" cy="4892040"/>
          </a:xfrm>
          <a:prstGeom prst="line">
            <a:avLst/>
          </a:prstGeom>
          <a:noFill/>
          <a:ln w="12700">
            <a:solidFill>
              <a:srgbClr val="D8D2F0"/>
            </a:solidFill>
            <a:prstDash val="dash"/>
          </a:ln>
        </p:spPr>
      </p:sp>
      <p:sp>
        <p:nvSpPr>
          <p:cNvPr id="16" name="Shape 14"/>
          <p:cNvSpPr/>
          <p:nvPr/>
        </p:nvSpPr>
        <p:spPr>
          <a:xfrm>
            <a:off x="1863090" y="2103120"/>
            <a:ext cx="2811780" cy="0"/>
          </a:xfrm>
          <a:prstGeom prst="line">
            <a:avLst/>
          </a:prstGeom>
          <a:noFill/>
          <a:ln w="19050">
            <a:solidFill>
              <a:srgbClr val="2E1065"/>
            </a:solidFill>
            <a:prstDash val="solid"/>
            <a:headEnd type="none"/>
            <a:tailEnd type="triangle"/>
          </a:ln>
        </p:spPr>
      </p:sp>
      <p:sp>
        <p:nvSpPr>
          <p:cNvPr id="17" name="Text 15"/>
          <p:cNvSpPr/>
          <p:nvPr/>
        </p:nvSpPr>
        <p:spPr>
          <a:xfrm>
            <a:off x="1863090" y="1737360"/>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login(email, password)</a:t>
            </a:r>
            <a:endParaRPr lang="en-US" sz="980" dirty="0"/>
          </a:p>
        </p:txBody>
      </p:sp>
      <p:sp>
        <p:nvSpPr>
          <p:cNvPr id="18" name="Shape 16"/>
          <p:cNvSpPr/>
          <p:nvPr/>
        </p:nvSpPr>
        <p:spPr>
          <a:xfrm>
            <a:off x="4674870" y="2505456"/>
            <a:ext cx="2811780" cy="0"/>
          </a:xfrm>
          <a:prstGeom prst="line">
            <a:avLst/>
          </a:prstGeom>
          <a:noFill/>
          <a:ln w="19050">
            <a:solidFill>
              <a:srgbClr val="2E1065"/>
            </a:solidFill>
            <a:prstDash val="solid"/>
            <a:headEnd type="none"/>
            <a:tailEnd type="triangle"/>
          </a:ln>
        </p:spPr>
      </p:sp>
      <p:sp>
        <p:nvSpPr>
          <p:cNvPr id="19" name="Text 17"/>
          <p:cNvSpPr/>
          <p:nvPr/>
        </p:nvSpPr>
        <p:spPr>
          <a:xfrm>
            <a:off x="4674870" y="2139696"/>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api.auth.login(...)</a:t>
            </a:r>
            <a:endParaRPr lang="en-US" sz="980" dirty="0"/>
          </a:p>
        </p:txBody>
      </p:sp>
      <p:sp>
        <p:nvSpPr>
          <p:cNvPr id="20" name="Shape 18"/>
          <p:cNvSpPr/>
          <p:nvPr/>
        </p:nvSpPr>
        <p:spPr>
          <a:xfrm>
            <a:off x="7486650" y="2907792"/>
            <a:ext cx="2811780" cy="0"/>
          </a:xfrm>
          <a:prstGeom prst="line">
            <a:avLst/>
          </a:prstGeom>
          <a:noFill/>
          <a:ln w="19050">
            <a:solidFill>
              <a:srgbClr val="2E1065"/>
            </a:solidFill>
            <a:prstDash val="solid"/>
            <a:headEnd type="none"/>
            <a:tailEnd type="triangle"/>
          </a:ln>
        </p:spPr>
      </p:sp>
      <p:sp>
        <p:nvSpPr>
          <p:cNvPr id="21" name="Text 19"/>
          <p:cNvSpPr/>
          <p:nvPr/>
        </p:nvSpPr>
        <p:spPr>
          <a:xfrm>
            <a:off x="7486650" y="2542032"/>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POST /api/auth/login</a:t>
            </a:r>
            <a:endParaRPr lang="en-US" sz="980" dirty="0"/>
          </a:p>
        </p:txBody>
      </p:sp>
      <p:sp>
        <p:nvSpPr>
          <p:cNvPr id="22" name="Shape 20"/>
          <p:cNvSpPr/>
          <p:nvPr/>
        </p:nvSpPr>
        <p:spPr>
          <a:xfrm>
            <a:off x="7486650" y="3310128"/>
            <a:ext cx="2811780" cy="0"/>
          </a:xfrm>
          <a:prstGeom prst="line">
            <a:avLst/>
          </a:prstGeom>
          <a:noFill/>
          <a:ln w="19050">
            <a:solidFill>
              <a:srgbClr val="2E1065"/>
            </a:solidFill>
            <a:prstDash val="solid"/>
            <a:headEnd type="triangle"/>
            <a:tailEnd type="none"/>
          </a:ln>
        </p:spPr>
      </p:sp>
      <p:sp>
        <p:nvSpPr>
          <p:cNvPr id="23" name="Text 21"/>
          <p:cNvSpPr/>
          <p:nvPr/>
        </p:nvSpPr>
        <p:spPr>
          <a:xfrm>
            <a:off x="7486650" y="2944368"/>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Returns token &amp; user details</a:t>
            </a:r>
            <a:endParaRPr lang="en-US" sz="980" dirty="0"/>
          </a:p>
        </p:txBody>
      </p:sp>
      <p:sp>
        <p:nvSpPr>
          <p:cNvPr id="24" name="Text 22"/>
          <p:cNvSpPr/>
          <p:nvPr/>
        </p:nvSpPr>
        <p:spPr>
          <a:xfrm>
            <a:off x="7395210" y="3346704"/>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Saves token → localStorage</a:t>
            </a:r>
            <a:endParaRPr lang="en-US" sz="980" dirty="0"/>
          </a:p>
        </p:txBody>
      </p:sp>
      <p:sp>
        <p:nvSpPr>
          <p:cNvPr id="25" name="Shape 23"/>
          <p:cNvSpPr/>
          <p:nvPr/>
        </p:nvSpPr>
        <p:spPr>
          <a:xfrm>
            <a:off x="4674870" y="4114800"/>
            <a:ext cx="2811780" cy="0"/>
          </a:xfrm>
          <a:prstGeom prst="line">
            <a:avLst/>
          </a:prstGeom>
          <a:noFill/>
          <a:ln w="19050">
            <a:solidFill>
              <a:srgbClr val="2E1065"/>
            </a:solidFill>
            <a:prstDash val="solid"/>
            <a:headEnd type="triangle"/>
            <a:tailEnd type="none"/>
          </a:ln>
        </p:spPr>
      </p:sp>
      <p:sp>
        <p:nvSpPr>
          <p:cNvPr id="26" name="Text 24"/>
          <p:cNvSpPr/>
          <p:nvPr/>
        </p:nvSpPr>
        <p:spPr>
          <a:xfrm>
            <a:off x="4674870" y="3749040"/>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Returns mapped user profile</a:t>
            </a:r>
            <a:endParaRPr lang="en-US" sz="980" dirty="0"/>
          </a:p>
        </p:txBody>
      </p:sp>
      <p:sp>
        <p:nvSpPr>
          <p:cNvPr id="27" name="Shape 25"/>
          <p:cNvSpPr/>
          <p:nvPr/>
        </p:nvSpPr>
        <p:spPr>
          <a:xfrm>
            <a:off x="1863090" y="4517136"/>
            <a:ext cx="2811780" cy="0"/>
          </a:xfrm>
          <a:prstGeom prst="line">
            <a:avLst/>
          </a:prstGeom>
          <a:noFill/>
          <a:ln w="19050">
            <a:solidFill>
              <a:srgbClr val="2E1065"/>
            </a:solidFill>
            <a:prstDash val="solid"/>
            <a:headEnd type="triangle"/>
            <a:tailEnd type="none"/>
          </a:ln>
        </p:spPr>
      </p:sp>
      <p:sp>
        <p:nvSpPr>
          <p:cNvPr id="28" name="Text 26"/>
          <p:cNvSpPr/>
          <p:nvPr/>
        </p:nvSpPr>
        <p:spPr>
          <a:xfrm>
            <a:off x="1863090" y="4151376"/>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Sets user state, redirects home</a:t>
            </a:r>
            <a:endParaRPr lang="en-US" sz="980" dirty="0"/>
          </a:p>
        </p:txBody>
      </p:sp>
      <p:sp>
        <p:nvSpPr>
          <p:cNvPr id="29" name="Shape 27"/>
          <p:cNvSpPr/>
          <p:nvPr/>
        </p:nvSpPr>
        <p:spPr>
          <a:xfrm>
            <a:off x="1863090" y="4919472"/>
            <a:ext cx="2811780" cy="0"/>
          </a:xfrm>
          <a:prstGeom prst="line">
            <a:avLst/>
          </a:prstGeom>
          <a:noFill/>
          <a:ln w="19050">
            <a:solidFill>
              <a:srgbClr val="2E1065"/>
            </a:solidFill>
            <a:prstDash val="solid"/>
            <a:headEnd type="none"/>
            <a:tailEnd type="triangle"/>
          </a:ln>
        </p:spPr>
      </p:sp>
      <p:sp>
        <p:nvSpPr>
          <p:cNvPr id="30" name="Text 28"/>
          <p:cNvSpPr/>
          <p:nvPr/>
        </p:nvSpPr>
        <p:spPr>
          <a:xfrm>
            <a:off x="1863090" y="4553712"/>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Edits a book (later request)</a:t>
            </a:r>
            <a:endParaRPr lang="en-US" sz="980" dirty="0"/>
          </a:p>
        </p:txBody>
      </p:sp>
      <p:sp>
        <p:nvSpPr>
          <p:cNvPr id="31" name="Shape 29"/>
          <p:cNvSpPr/>
          <p:nvPr/>
        </p:nvSpPr>
        <p:spPr>
          <a:xfrm>
            <a:off x="4674870" y="5321808"/>
            <a:ext cx="2811780" cy="0"/>
          </a:xfrm>
          <a:prstGeom prst="line">
            <a:avLst/>
          </a:prstGeom>
          <a:noFill/>
          <a:ln w="19050">
            <a:solidFill>
              <a:srgbClr val="2E1065"/>
            </a:solidFill>
            <a:prstDash val="solid"/>
            <a:headEnd type="none"/>
            <a:tailEnd type="triangle"/>
          </a:ln>
        </p:spPr>
      </p:sp>
      <p:sp>
        <p:nvSpPr>
          <p:cNvPr id="32" name="Text 30"/>
          <p:cNvSpPr/>
          <p:nvPr/>
        </p:nvSpPr>
        <p:spPr>
          <a:xfrm>
            <a:off x="4674870" y="4956048"/>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PUT /api/books/:id</a:t>
            </a:r>
            <a:endParaRPr lang="en-US" sz="980" dirty="0"/>
          </a:p>
        </p:txBody>
      </p:sp>
      <p:sp>
        <p:nvSpPr>
          <p:cNvPr id="33" name="Text 31"/>
          <p:cNvSpPr/>
          <p:nvPr/>
        </p:nvSpPr>
        <p:spPr>
          <a:xfrm>
            <a:off x="7395210" y="5358384"/>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Interceptor appends Bearer token</a:t>
            </a:r>
            <a:endParaRPr lang="en-US" sz="980" dirty="0"/>
          </a:p>
        </p:txBody>
      </p:sp>
      <p:sp>
        <p:nvSpPr>
          <p:cNvPr id="34" name="Shape 32"/>
          <p:cNvSpPr/>
          <p:nvPr/>
        </p:nvSpPr>
        <p:spPr>
          <a:xfrm>
            <a:off x="7486650" y="6126480"/>
            <a:ext cx="2811780" cy="0"/>
          </a:xfrm>
          <a:prstGeom prst="line">
            <a:avLst/>
          </a:prstGeom>
          <a:noFill/>
          <a:ln w="19050">
            <a:solidFill>
              <a:srgbClr val="2E1065"/>
            </a:solidFill>
            <a:prstDash val="solid"/>
            <a:headEnd type="none"/>
            <a:tailEnd type="triangle"/>
          </a:ln>
        </p:spPr>
      </p:sp>
      <p:sp>
        <p:nvSpPr>
          <p:cNvPr id="35" name="Text 33"/>
          <p:cNvSpPr/>
          <p:nvPr/>
        </p:nvSpPr>
        <p:spPr>
          <a:xfrm>
            <a:off x="7486650" y="5760720"/>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PUT with Authorization header</a:t>
            </a:r>
            <a:endParaRPr lang="en-US" sz="980" dirty="0"/>
          </a:p>
        </p:txBody>
      </p:sp>
      <p:sp>
        <p:nvSpPr>
          <p:cNvPr id="36" name="Text 34"/>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9. Data Flow — Checkout &amp; Order Creation</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From cart review to a confirmed order and refreshed stock</a:t>
            </a:r>
            <a:endParaRPr lang="en-US" sz="1300" dirty="0"/>
          </a:p>
        </p:txBody>
      </p:sp>
      <p:sp>
        <p:nvSpPr>
          <p:cNvPr id="4" name="Shape 2"/>
          <p:cNvSpPr/>
          <p:nvPr/>
        </p:nvSpPr>
        <p:spPr>
          <a:xfrm>
            <a:off x="857250" y="1234440"/>
            <a:ext cx="2011680" cy="457200"/>
          </a:xfrm>
          <a:prstGeom prst="roundRect">
            <a:avLst>
              <a:gd name="adj" fmla="val 12000"/>
            </a:avLst>
          </a:prstGeom>
          <a:solidFill>
            <a:srgbClr val="4F46E5"/>
          </a:solidFill>
          <a:ln/>
        </p:spPr>
      </p:sp>
      <p:sp>
        <p:nvSpPr>
          <p:cNvPr id="5" name="Text 3"/>
          <p:cNvSpPr/>
          <p:nvPr/>
        </p:nvSpPr>
        <p:spPr>
          <a:xfrm>
            <a:off x="85725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Checkout Page</a:t>
            </a:r>
            <a:endParaRPr lang="en-US" sz="1100" dirty="0"/>
          </a:p>
        </p:txBody>
      </p:sp>
      <p:sp>
        <p:nvSpPr>
          <p:cNvPr id="6" name="Shape 4"/>
          <p:cNvSpPr/>
          <p:nvPr/>
        </p:nvSpPr>
        <p:spPr>
          <a:xfrm>
            <a:off x="1863090" y="1691640"/>
            <a:ext cx="0" cy="4892040"/>
          </a:xfrm>
          <a:prstGeom prst="line">
            <a:avLst/>
          </a:prstGeom>
          <a:noFill/>
          <a:ln w="12700">
            <a:solidFill>
              <a:srgbClr val="D8D2F0"/>
            </a:solidFill>
            <a:prstDash val="dash"/>
          </a:ln>
        </p:spPr>
      </p:sp>
      <p:sp>
        <p:nvSpPr>
          <p:cNvPr id="7" name="Shape 5"/>
          <p:cNvSpPr/>
          <p:nvPr/>
        </p:nvSpPr>
        <p:spPr>
          <a:xfrm>
            <a:off x="3669030" y="1234440"/>
            <a:ext cx="2011680" cy="457200"/>
          </a:xfrm>
          <a:prstGeom prst="roundRect">
            <a:avLst>
              <a:gd name="adj" fmla="val 12000"/>
            </a:avLst>
          </a:prstGeom>
          <a:solidFill>
            <a:srgbClr val="4F46E5"/>
          </a:solidFill>
          <a:ln/>
        </p:spPr>
      </p:sp>
      <p:sp>
        <p:nvSpPr>
          <p:cNvPr id="8" name="Text 6"/>
          <p:cNvSpPr/>
          <p:nvPr/>
        </p:nvSpPr>
        <p:spPr>
          <a:xfrm>
            <a:off x="366903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BookContext</a:t>
            </a:r>
            <a:endParaRPr lang="en-US" sz="1100" dirty="0"/>
          </a:p>
        </p:txBody>
      </p:sp>
      <p:sp>
        <p:nvSpPr>
          <p:cNvPr id="9" name="Shape 7"/>
          <p:cNvSpPr/>
          <p:nvPr/>
        </p:nvSpPr>
        <p:spPr>
          <a:xfrm>
            <a:off x="4674870" y="1691640"/>
            <a:ext cx="0" cy="4892040"/>
          </a:xfrm>
          <a:prstGeom prst="line">
            <a:avLst/>
          </a:prstGeom>
          <a:noFill/>
          <a:ln w="12700">
            <a:solidFill>
              <a:srgbClr val="D8D2F0"/>
            </a:solidFill>
            <a:prstDash val="dash"/>
          </a:ln>
        </p:spPr>
      </p:sp>
      <p:sp>
        <p:nvSpPr>
          <p:cNvPr id="10" name="Shape 8"/>
          <p:cNvSpPr/>
          <p:nvPr/>
        </p:nvSpPr>
        <p:spPr>
          <a:xfrm>
            <a:off x="6480810" y="1234440"/>
            <a:ext cx="2011680" cy="457200"/>
          </a:xfrm>
          <a:prstGeom prst="roundRect">
            <a:avLst>
              <a:gd name="adj" fmla="val 12000"/>
            </a:avLst>
          </a:prstGeom>
          <a:solidFill>
            <a:srgbClr val="4F46E5"/>
          </a:solidFill>
          <a:ln/>
        </p:spPr>
      </p:sp>
      <p:sp>
        <p:nvSpPr>
          <p:cNvPr id="11" name="Text 9"/>
          <p:cNvSpPr/>
          <p:nvPr/>
        </p:nvSpPr>
        <p:spPr>
          <a:xfrm>
            <a:off x="648081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CartContext</a:t>
            </a:r>
            <a:endParaRPr lang="en-US" sz="1100" dirty="0"/>
          </a:p>
        </p:txBody>
      </p:sp>
      <p:sp>
        <p:nvSpPr>
          <p:cNvPr id="12" name="Shape 10"/>
          <p:cNvSpPr/>
          <p:nvPr/>
        </p:nvSpPr>
        <p:spPr>
          <a:xfrm>
            <a:off x="7486650" y="1691640"/>
            <a:ext cx="0" cy="4892040"/>
          </a:xfrm>
          <a:prstGeom prst="line">
            <a:avLst/>
          </a:prstGeom>
          <a:noFill/>
          <a:ln w="12700">
            <a:solidFill>
              <a:srgbClr val="D8D2F0"/>
            </a:solidFill>
            <a:prstDash val="dash"/>
          </a:ln>
        </p:spPr>
      </p:sp>
      <p:sp>
        <p:nvSpPr>
          <p:cNvPr id="13" name="Shape 11"/>
          <p:cNvSpPr/>
          <p:nvPr/>
        </p:nvSpPr>
        <p:spPr>
          <a:xfrm>
            <a:off x="9292590" y="1234440"/>
            <a:ext cx="2011680" cy="457200"/>
          </a:xfrm>
          <a:prstGeom prst="roundRect">
            <a:avLst>
              <a:gd name="adj" fmla="val 12000"/>
            </a:avLst>
          </a:prstGeom>
          <a:solidFill>
            <a:srgbClr val="4F46E5"/>
          </a:solidFill>
          <a:ln/>
        </p:spPr>
      </p:sp>
      <p:sp>
        <p:nvSpPr>
          <p:cNvPr id="14" name="Text 12"/>
          <p:cNvSpPr/>
          <p:nvPr/>
        </p:nvSpPr>
        <p:spPr>
          <a:xfrm>
            <a:off x="9292590" y="1234440"/>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api.js / Server</a:t>
            </a:r>
            <a:endParaRPr lang="en-US" sz="1100" dirty="0"/>
          </a:p>
        </p:txBody>
      </p:sp>
      <p:sp>
        <p:nvSpPr>
          <p:cNvPr id="15" name="Shape 13"/>
          <p:cNvSpPr/>
          <p:nvPr/>
        </p:nvSpPr>
        <p:spPr>
          <a:xfrm>
            <a:off x="10298430" y="1691640"/>
            <a:ext cx="0" cy="4892040"/>
          </a:xfrm>
          <a:prstGeom prst="line">
            <a:avLst/>
          </a:prstGeom>
          <a:noFill/>
          <a:ln w="12700">
            <a:solidFill>
              <a:srgbClr val="D8D2F0"/>
            </a:solidFill>
            <a:prstDash val="dash"/>
          </a:ln>
        </p:spPr>
      </p:sp>
      <p:sp>
        <p:nvSpPr>
          <p:cNvPr id="16" name="Shape 14"/>
          <p:cNvSpPr/>
          <p:nvPr/>
        </p:nvSpPr>
        <p:spPr>
          <a:xfrm>
            <a:off x="1863090" y="2103120"/>
            <a:ext cx="5623560" cy="0"/>
          </a:xfrm>
          <a:prstGeom prst="line">
            <a:avLst/>
          </a:prstGeom>
          <a:noFill/>
          <a:ln w="19050">
            <a:solidFill>
              <a:srgbClr val="2E1065"/>
            </a:solidFill>
            <a:prstDash val="solid"/>
            <a:headEnd type="none"/>
            <a:tailEnd type="triangle"/>
          </a:ln>
        </p:spPr>
      </p:sp>
      <p:sp>
        <p:nvSpPr>
          <p:cNvPr id="17" name="Text 15"/>
          <p:cNvSpPr/>
          <p:nvPr/>
        </p:nvSpPr>
        <p:spPr>
          <a:xfrm>
            <a:off x="1863090" y="1737360"/>
            <a:ext cx="562356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Read cart total &amp; items</a:t>
            </a:r>
            <a:endParaRPr lang="en-US" sz="980" dirty="0"/>
          </a:p>
        </p:txBody>
      </p:sp>
      <p:sp>
        <p:nvSpPr>
          <p:cNvPr id="18" name="Shape 16"/>
          <p:cNvSpPr/>
          <p:nvPr/>
        </p:nvSpPr>
        <p:spPr>
          <a:xfrm>
            <a:off x="1863090" y="2505456"/>
            <a:ext cx="2811780" cy="0"/>
          </a:xfrm>
          <a:prstGeom prst="line">
            <a:avLst/>
          </a:prstGeom>
          <a:noFill/>
          <a:ln w="19050">
            <a:solidFill>
              <a:srgbClr val="2E1065"/>
            </a:solidFill>
            <a:prstDash val="solid"/>
            <a:headEnd type="none"/>
            <a:tailEnd type="triangle"/>
          </a:ln>
        </p:spPr>
      </p:sp>
      <p:sp>
        <p:nvSpPr>
          <p:cNvPr id="19" name="Text 17"/>
          <p:cNvSpPr/>
          <p:nvPr/>
        </p:nvSpPr>
        <p:spPr>
          <a:xfrm>
            <a:off x="1863090" y="2139696"/>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placeOrder(orderData)</a:t>
            </a:r>
            <a:endParaRPr lang="en-US" sz="980" dirty="0"/>
          </a:p>
        </p:txBody>
      </p:sp>
      <p:sp>
        <p:nvSpPr>
          <p:cNvPr id="20" name="Shape 18"/>
          <p:cNvSpPr/>
          <p:nvPr/>
        </p:nvSpPr>
        <p:spPr>
          <a:xfrm>
            <a:off x="4674870" y="2907792"/>
            <a:ext cx="5623560" cy="0"/>
          </a:xfrm>
          <a:prstGeom prst="line">
            <a:avLst/>
          </a:prstGeom>
          <a:noFill/>
          <a:ln w="19050">
            <a:solidFill>
              <a:srgbClr val="2E1065"/>
            </a:solidFill>
            <a:prstDash val="solid"/>
            <a:headEnd type="none"/>
            <a:tailEnd type="triangle"/>
          </a:ln>
        </p:spPr>
      </p:sp>
      <p:sp>
        <p:nvSpPr>
          <p:cNvPr id="21" name="Text 19"/>
          <p:cNvSpPr/>
          <p:nvPr/>
        </p:nvSpPr>
        <p:spPr>
          <a:xfrm>
            <a:off x="4674870" y="2542032"/>
            <a:ext cx="562356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POST /api/orders</a:t>
            </a:r>
            <a:endParaRPr lang="en-US" sz="980" dirty="0"/>
          </a:p>
        </p:txBody>
      </p:sp>
      <p:sp>
        <p:nvSpPr>
          <p:cNvPr id="22" name="Text 20"/>
          <p:cNvSpPr/>
          <p:nvPr/>
        </p:nvSpPr>
        <p:spPr>
          <a:xfrm>
            <a:off x="10206990" y="2944368"/>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Validates stock, creates order</a:t>
            </a:r>
            <a:endParaRPr lang="en-US" sz="980" dirty="0"/>
          </a:p>
        </p:txBody>
      </p:sp>
      <p:sp>
        <p:nvSpPr>
          <p:cNvPr id="23" name="Shape 21"/>
          <p:cNvSpPr/>
          <p:nvPr/>
        </p:nvSpPr>
        <p:spPr>
          <a:xfrm>
            <a:off x="4674870" y="3712464"/>
            <a:ext cx="5623560" cy="0"/>
          </a:xfrm>
          <a:prstGeom prst="line">
            <a:avLst/>
          </a:prstGeom>
          <a:noFill/>
          <a:ln w="19050">
            <a:solidFill>
              <a:srgbClr val="2E1065"/>
            </a:solidFill>
            <a:prstDash val="solid"/>
            <a:headEnd type="triangle"/>
            <a:tailEnd type="none"/>
          </a:ln>
        </p:spPr>
      </p:sp>
      <p:sp>
        <p:nvSpPr>
          <p:cNvPr id="24" name="Text 22"/>
          <p:cNvSpPr/>
          <p:nvPr/>
        </p:nvSpPr>
        <p:spPr>
          <a:xfrm>
            <a:off x="4674870" y="3346704"/>
            <a:ext cx="562356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Returns created order object</a:t>
            </a:r>
            <a:endParaRPr lang="en-US" sz="980" dirty="0"/>
          </a:p>
        </p:txBody>
      </p:sp>
      <p:sp>
        <p:nvSpPr>
          <p:cNvPr id="25" name="Shape 23"/>
          <p:cNvSpPr/>
          <p:nvPr/>
        </p:nvSpPr>
        <p:spPr>
          <a:xfrm>
            <a:off x="4674870" y="4114800"/>
            <a:ext cx="2811780" cy="0"/>
          </a:xfrm>
          <a:prstGeom prst="line">
            <a:avLst/>
          </a:prstGeom>
          <a:noFill/>
          <a:ln w="19050">
            <a:solidFill>
              <a:srgbClr val="2E1065"/>
            </a:solidFill>
            <a:prstDash val="solid"/>
            <a:headEnd type="none"/>
            <a:tailEnd type="triangle"/>
          </a:ln>
        </p:spPr>
      </p:sp>
      <p:sp>
        <p:nvSpPr>
          <p:cNvPr id="26" name="Text 24"/>
          <p:cNvSpPr/>
          <p:nvPr/>
        </p:nvSpPr>
        <p:spPr>
          <a:xfrm>
            <a:off x="4674870" y="3749040"/>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clearCart()</a:t>
            </a:r>
            <a:endParaRPr lang="en-US" sz="980" dirty="0"/>
          </a:p>
        </p:txBody>
      </p:sp>
      <p:sp>
        <p:nvSpPr>
          <p:cNvPr id="27" name="Text 25"/>
          <p:cNvSpPr/>
          <p:nvPr/>
        </p:nvSpPr>
        <p:spPr>
          <a:xfrm>
            <a:off x="7395210" y="4151376"/>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Clears localStorage cart</a:t>
            </a:r>
            <a:endParaRPr lang="en-US" sz="980" dirty="0"/>
          </a:p>
        </p:txBody>
      </p:sp>
      <p:sp>
        <p:nvSpPr>
          <p:cNvPr id="28" name="Shape 26"/>
          <p:cNvSpPr/>
          <p:nvPr/>
        </p:nvSpPr>
        <p:spPr>
          <a:xfrm>
            <a:off x="4674870" y="4919472"/>
            <a:ext cx="5623560" cy="0"/>
          </a:xfrm>
          <a:prstGeom prst="line">
            <a:avLst/>
          </a:prstGeom>
          <a:noFill/>
          <a:ln w="19050">
            <a:solidFill>
              <a:srgbClr val="2E1065"/>
            </a:solidFill>
            <a:prstDash val="solid"/>
            <a:headEnd type="none"/>
            <a:tailEnd type="triangle"/>
          </a:ln>
        </p:spPr>
      </p:sp>
      <p:sp>
        <p:nvSpPr>
          <p:cNvPr id="29" name="Text 27"/>
          <p:cNvSpPr/>
          <p:nvPr/>
        </p:nvSpPr>
        <p:spPr>
          <a:xfrm>
            <a:off x="4674870" y="4553712"/>
            <a:ext cx="562356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fetchBooks() catalog refresh</a:t>
            </a:r>
            <a:endParaRPr lang="en-US" sz="980" dirty="0"/>
          </a:p>
        </p:txBody>
      </p:sp>
      <p:sp>
        <p:nvSpPr>
          <p:cNvPr id="30" name="Shape 28"/>
          <p:cNvSpPr/>
          <p:nvPr/>
        </p:nvSpPr>
        <p:spPr>
          <a:xfrm>
            <a:off x="4674870" y="5321808"/>
            <a:ext cx="5623560" cy="0"/>
          </a:xfrm>
          <a:prstGeom prst="line">
            <a:avLst/>
          </a:prstGeom>
          <a:noFill/>
          <a:ln w="19050">
            <a:solidFill>
              <a:srgbClr val="2E1065"/>
            </a:solidFill>
            <a:prstDash val="solid"/>
            <a:headEnd type="triangle"/>
            <a:tailEnd type="none"/>
          </a:ln>
        </p:spPr>
      </p:sp>
      <p:sp>
        <p:nvSpPr>
          <p:cNvPr id="31" name="Text 29"/>
          <p:cNvSpPr/>
          <p:nvPr/>
        </p:nvSpPr>
        <p:spPr>
          <a:xfrm>
            <a:off x="4674870" y="4956048"/>
            <a:ext cx="562356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Returns updated stock</a:t>
            </a:r>
            <a:endParaRPr lang="en-US" sz="980" dirty="0"/>
          </a:p>
        </p:txBody>
      </p:sp>
      <p:sp>
        <p:nvSpPr>
          <p:cNvPr id="32" name="Shape 30"/>
          <p:cNvSpPr/>
          <p:nvPr/>
        </p:nvSpPr>
        <p:spPr>
          <a:xfrm>
            <a:off x="1863090" y="5724144"/>
            <a:ext cx="2811780" cy="0"/>
          </a:xfrm>
          <a:prstGeom prst="line">
            <a:avLst/>
          </a:prstGeom>
          <a:noFill/>
          <a:ln w="19050">
            <a:solidFill>
              <a:srgbClr val="2E1065"/>
            </a:solidFill>
            <a:prstDash val="solid"/>
            <a:headEnd type="triangle"/>
            <a:tailEnd type="none"/>
          </a:ln>
        </p:spPr>
      </p:sp>
      <p:sp>
        <p:nvSpPr>
          <p:cNvPr id="33" name="Text 31"/>
          <p:cNvSpPr/>
          <p:nvPr/>
        </p:nvSpPr>
        <p:spPr>
          <a:xfrm>
            <a:off x="1863090" y="5358384"/>
            <a:ext cx="2926080" cy="365760"/>
          </a:xfrm>
          <a:prstGeom prst="rect">
            <a:avLst/>
          </a:prstGeom>
          <a:noFill/>
          <a:ln/>
        </p:spPr>
        <p:txBody>
          <a:bodyPr wrap="square" lIns="0" tIns="0" rIns="0" bIns="0" rtlCol="0" anchor="ctr"/>
          <a:lstStyle/>
          <a:p>
            <a:pPr algn="ctr" indent="0" marL="0">
              <a:buNone/>
            </a:pPr>
            <a:r>
              <a:rPr lang="en-US" sz="980" dirty="0">
                <a:solidFill>
                  <a:srgbClr val="1E1B2E"/>
                </a:solidFill>
                <a:latin typeface="Calibri" pitchFamily="34" charset="0"/>
                <a:ea typeface="Calibri" pitchFamily="34" charset="-122"/>
                <a:cs typeface="Calibri" pitchFamily="34" charset="-120"/>
              </a:rPr>
              <a:t>Displays order success screen</a:t>
            </a:r>
            <a:endParaRPr lang="en-US" sz="980" dirty="0"/>
          </a:p>
        </p:txBody>
      </p:sp>
      <p:sp>
        <p:nvSpPr>
          <p:cNvPr id="34" name="Text 3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10. Performance Optimizations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How the frontend keeps its 3D visuals and state updates fast</a:t>
            </a:r>
            <a:endParaRPr lang="en-US" sz="1300" dirty="0"/>
          </a:p>
        </p:txBody>
      </p:sp>
      <p:sp>
        <p:nvSpPr>
          <p:cNvPr id="4" name="Shape 2"/>
          <p:cNvSpPr/>
          <p:nvPr/>
        </p:nvSpPr>
        <p:spPr>
          <a:xfrm>
            <a:off x="45720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GPU-Accelerated 3D</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Book3D.jsx uses lightweight, programmatically generated canvas textures instead of large external assets. Particles3D.jsx's coordinate matrices are computed on the GPU and optimized with useMemo.</a:t>
            </a:r>
            <a:endParaRPr lang="en-US" sz="1150" dirty="0"/>
          </a:p>
        </p:txBody>
      </p:sp>
      <p:sp>
        <p:nvSpPr>
          <p:cNvPr id="9" name="Shape 7"/>
          <p:cNvSpPr/>
          <p:nvPr/>
        </p:nvSpPr>
        <p:spPr>
          <a:xfrm>
            <a:off x="6217920" y="1143000"/>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Smooth Cursor Tracking</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CustomCursor.jsx uses requestAnimationFrame for position tracking, avoiding page re-renders on every mouse movement.</a:t>
            </a:r>
            <a:endParaRPr lang="en-US" sz="1150" dirty="0"/>
          </a:p>
        </p:txBody>
      </p:sp>
      <p:sp>
        <p:nvSpPr>
          <p:cNvPr id="14" name="Shape 12"/>
          <p:cNvSpPr/>
          <p:nvPr/>
        </p:nvSpPr>
        <p:spPr>
          <a:xfrm>
            <a:off x="45720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Cart Syncing</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CartContext.jsx batches cart adjustments and syncs to localStorage only when cartItems state actually changes, avoiding redundant writes.</a:t>
            </a:r>
            <a:endParaRPr lang="en-US" sz="1150" dirty="0"/>
          </a:p>
        </p:txBody>
      </p:sp>
      <p:sp>
        <p:nvSpPr>
          <p:cNvPr id="19" name="Shape 17"/>
          <p:cNvSpPr/>
          <p:nvPr/>
        </p:nvSpPr>
        <p:spPr>
          <a:xfrm>
            <a:off x="6217920" y="3867912"/>
            <a:ext cx="5486400" cy="2450592"/>
          </a:xfrm>
          <a:prstGeom prst="roundRect">
            <a:avLst>
              <a:gd name="adj" fmla="val 2985"/>
            </a:avLst>
          </a:prstGeom>
          <a:solidFill>
            <a:srgbClr val="EEF2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Vite Compilation</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Vite is configured to optimize chunk splitting, group shared dependencies, and clean build output during production builds.</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11. Frontend Development &amp; Setup Guide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Getting the Client/ app running locally and building for production</a:t>
            </a:r>
            <a:endParaRPr lang="en-US" sz="1300" dirty="0"/>
          </a:p>
        </p:txBody>
      </p:sp>
      <p:sp>
        <p:nvSpPr>
          <p:cNvPr id="4" name="Shape 2"/>
          <p:cNvSpPr/>
          <p:nvPr/>
        </p:nvSpPr>
        <p:spPr>
          <a:xfrm>
            <a:off x="457200" y="1188720"/>
            <a:ext cx="5394960" cy="4297680"/>
          </a:xfrm>
          <a:prstGeom prst="roundRect">
            <a:avLst>
              <a:gd name="adj" fmla="val 1702"/>
            </a:avLst>
          </a:prstGeom>
          <a:solidFill>
            <a:srgbClr val="1E1B2E"/>
          </a:solidFill>
          <a:ln/>
          <a:effectLst>
            <a:outerShdw sx="100000" sy="100000" kx="0" ky="0" algn="bl" rotWithShape="0" blurRad="76200" dist="25400" dir="2700000">
              <a:srgbClr val="000000">
                <a:alpha val="12000"/>
              </a:srgbClr>
            </a:outerShdw>
          </a:effectLst>
        </p:spPr>
      </p:sp>
      <p:sp>
        <p:nvSpPr>
          <p:cNvPr id="5" name="Text 3"/>
          <p:cNvSpPr/>
          <p:nvPr/>
        </p:nvSpPr>
        <p:spPr>
          <a:xfrm>
            <a:off x="731520" y="1371600"/>
            <a:ext cx="4846320" cy="320040"/>
          </a:xfrm>
          <a:prstGeom prst="rect">
            <a:avLst/>
          </a:prstGeom>
          <a:noFill/>
          <a:ln/>
        </p:spPr>
        <p:txBody>
          <a:bodyPr wrap="square" lIns="0" tIns="0" rIns="0" bIns="0" rtlCol="0" anchor="ctr"/>
          <a:lstStyle/>
          <a:p>
            <a:pPr indent="0" marL="0">
              <a:buNone/>
            </a:pPr>
            <a:r>
              <a:rPr lang="en-US" sz="1300" b="1" dirty="0">
                <a:solidFill>
                  <a:srgbClr val="FBBF24"/>
                </a:solidFill>
                <a:latin typeface="Cambria" pitchFamily="34" charset="0"/>
                <a:ea typeface="Cambria" pitchFamily="34" charset="-122"/>
                <a:cs typeface="Cambria" pitchFamily="34" charset="-120"/>
              </a:rPr>
              <a:t>Terminal commands</a:t>
            </a:r>
            <a:endParaRPr lang="en-US" sz="1300" dirty="0"/>
          </a:p>
        </p:txBody>
      </p:sp>
      <p:sp>
        <p:nvSpPr>
          <p:cNvPr id="6" name="Text 4"/>
          <p:cNvSpPr/>
          <p:nvPr/>
        </p:nvSpPr>
        <p:spPr>
          <a:xfrm>
            <a:off x="731520" y="1783080"/>
            <a:ext cx="4846320" cy="3474720"/>
          </a:xfrm>
          <a:prstGeom prst="rect">
            <a:avLst/>
          </a:prstGeom>
          <a:noFill/>
          <a:ln/>
        </p:spPr>
        <p:txBody>
          <a:bodyPr wrap="square" lIns="0" tIns="0" rIns="0" bIns="0" rtlCol="0" anchor="ctr"/>
          <a:lstStyle/>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 1. Install dependencies</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cd Client</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npm install</a:t>
            </a:r>
            <a:endParaRPr lang="en-US" sz="1150" dirty="0"/>
          </a:p>
          <a:p>
            <a:pPr indent="0" marL="0">
              <a:lnSpc>
                <a:spcPct val="130000"/>
              </a:lnSpc>
              <a:buNone/>
            </a:pP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 2. Start dev server (localhost:5173)</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npm run dev</a:t>
            </a:r>
            <a:endParaRPr lang="en-US" sz="1150" dirty="0"/>
          </a:p>
          <a:p>
            <a:pPr indent="0" marL="0">
              <a:lnSpc>
                <a:spcPct val="130000"/>
              </a:lnSpc>
              <a:buNone/>
            </a:pP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 3. Build for production</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npm run build</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 → outputs to dist/</a:t>
            </a:r>
            <a:endParaRPr lang="en-US" sz="1150" dirty="0"/>
          </a:p>
          <a:p>
            <a:pPr indent="0" marL="0">
              <a:lnSpc>
                <a:spcPct val="130000"/>
              </a:lnSpc>
              <a:buNone/>
            </a:pP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 4. .env configuration</a:t>
            </a:r>
            <a:endParaRPr lang="en-US" sz="1150" dirty="0"/>
          </a:p>
          <a:p>
            <a:pPr indent="0" marL="0">
              <a:lnSpc>
                <a:spcPct val="130000"/>
              </a:lnSpc>
              <a:buNone/>
            </a:pPr>
            <a:r>
              <a:rPr lang="en-US" sz="1150" dirty="0">
                <a:solidFill>
                  <a:srgbClr val="E8E4FA"/>
                </a:solidFill>
                <a:latin typeface="Courier New" pitchFamily="34" charset="0"/>
                <a:ea typeface="Courier New" pitchFamily="34" charset="-122"/>
                <a:cs typeface="Courier New" pitchFamily="34" charset="-120"/>
              </a:rPr>
              <a:t>VITE_API_URL=http://localhost:5000/api</a:t>
            </a:r>
            <a:endParaRPr lang="en-US" sz="1150" dirty="0"/>
          </a:p>
        </p:txBody>
      </p:sp>
      <p:sp>
        <p:nvSpPr>
          <p:cNvPr id="7" name="Text 5"/>
          <p:cNvSpPr/>
          <p:nvPr/>
        </p:nvSpPr>
        <p:spPr>
          <a:xfrm>
            <a:off x="6035040" y="1188720"/>
            <a:ext cx="5669280" cy="320040"/>
          </a:xfrm>
          <a:prstGeom prst="rect">
            <a:avLst/>
          </a:prstGeom>
          <a:noFill/>
          <a:ln/>
        </p:spPr>
        <p:txBody>
          <a:bodyPr wrap="square" lIns="0" tIns="0" rIns="0" bIns="0" rtlCol="0" anchor="ctr"/>
          <a:lstStyle/>
          <a:p>
            <a:pPr indent="0" marL="0">
              <a:buNone/>
            </a:pPr>
            <a:r>
              <a:rPr lang="en-US" sz="1400" b="1" dirty="0">
                <a:solidFill>
                  <a:srgbClr val="4F46E5"/>
                </a:solidFill>
                <a:latin typeface="Cambria" pitchFamily="34" charset="0"/>
                <a:ea typeface="Cambria" pitchFamily="34" charset="-122"/>
                <a:cs typeface="Cambria" pitchFamily="34" charset="-120"/>
              </a:rPr>
              <a:t>Code standards</a:t>
            </a:r>
            <a:endParaRPr lang="en-US" sz="1400" dirty="0"/>
          </a:p>
        </p:txBody>
      </p:sp>
      <p:sp>
        <p:nvSpPr>
          <p:cNvPr id="8" name="Text 6"/>
          <p:cNvSpPr/>
          <p:nvPr/>
        </p:nvSpPr>
        <p:spPr>
          <a:xfrm>
            <a:off x="6035040" y="1600200"/>
            <a:ext cx="5669280" cy="3840480"/>
          </a:xfrm>
          <a:prstGeom prst="rect">
            <a:avLst/>
          </a:prstGeom>
          <a:noFill/>
          <a:ln/>
        </p:spPr>
        <p:txBody>
          <a:bodyPr wrap="square" rtlCol="0" anchor="t"/>
          <a:lstStyle/>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Folder names in lowercase, grouped by architectural role (components/, hooks/, utils/)</a:t>
            </a:r>
            <a:endParaRPr lang="en-US" sz="1250" dirty="0"/>
          </a:p>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Components use PascalCase filenames and ES6 arrow functions</a:t>
            </a:r>
            <a:endParaRPr lang="en-US" sz="1250" dirty="0"/>
          </a:p>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Animations wrapped in Framer Motion or GSAP transition wrappers</a:t>
            </a:r>
            <a:endParaRPr lang="en-US" sz="1250" dirty="0"/>
          </a:p>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Explicit prop structures or sensible defaults for every component</a:t>
            </a:r>
            <a:endParaRPr lang="en-US" sz="1250" dirty="0"/>
          </a:p>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No hardcoded colors — use CSS variables like var(--bg-primary) for theme consistency</a:t>
            </a:r>
            <a:endParaRPr lang="en-US" sz="1250" dirty="0"/>
          </a:p>
          <a:p>
            <a:pPr marL="342900" indent="-342900">
              <a:lnSpc>
                <a:spcPct val="130000"/>
              </a:lnSpc>
              <a:buSzPct val="100000"/>
              <a:buChar char="•"/>
            </a:pPr>
            <a:r>
              <a:rPr lang="en-US" sz="1250" dirty="0">
                <a:solidFill>
                  <a:srgbClr val="1E1B2E"/>
                </a:solidFill>
                <a:latin typeface="Calibri" pitchFamily="34" charset="0"/>
                <a:ea typeface="Calibri" pitchFamily="34" charset="-122"/>
                <a:cs typeface="Calibri" pitchFamily="34" charset="-120"/>
              </a:rPr>
              <a:t>Responsive layouts via flex/grid utilities; standard Tailwind rounded-xl / rounded-2xl radii</a:t>
            </a:r>
            <a:endParaRPr lang="en-US" sz="1250" dirty="0"/>
          </a:p>
        </p:txBody>
      </p:sp>
      <p:sp>
        <p:nvSpPr>
          <p:cNvPr id="9" name="Text 7"/>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indent="0" marL="0">
              <a:buNone/>
            </a:pPr>
            <a:r>
              <a:rPr lang="en-US" sz="2800" b="1" dirty="0">
                <a:solidFill>
                  <a:srgbClr val="2E1065"/>
                </a:solidFill>
                <a:latin typeface="Cambria" pitchFamily="34" charset="0"/>
                <a:ea typeface="Cambria" pitchFamily="34" charset="-122"/>
                <a:cs typeface="Cambria" pitchFamily="34" charset="-120"/>
              </a:rPr>
              <a:t>12. Future Development &amp; Scalability Guidelines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6B6478"/>
                </a:solidFill>
                <a:latin typeface="Calibri" pitchFamily="34" charset="0"/>
                <a:ea typeface="Calibri" pitchFamily="34" charset="-122"/>
                <a:cs typeface="Calibri" pitchFamily="34" charset="-120"/>
              </a:rPr>
              <a:t>Conventions for extending the app with new pages, components, and APIs</a:t>
            </a:r>
            <a:endParaRPr lang="en-US" sz="1300" dirty="0"/>
          </a:p>
        </p:txBody>
      </p:sp>
      <p:sp>
        <p:nvSpPr>
          <p:cNvPr id="4" name="Shape 2"/>
          <p:cNvSpPr/>
          <p:nvPr/>
        </p:nvSpPr>
        <p:spPr>
          <a:xfrm>
            <a:off x="45720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5" name="Shape 3"/>
          <p:cNvSpPr/>
          <p:nvPr/>
        </p:nvSpPr>
        <p:spPr>
          <a:xfrm>
            <a:off x="658368" y="1344168"/>
            <a:ext cx="292608" cy="292608"/>
          </a:xfrm>
          <a:prstGeom prst="ellipse">
            <a:avLst/>
          </a:prstGeom>
          <a:solidFill>
            <a:srgbClr val="4F46E5"/>
          </a:solidFill>
          <a:ln/>
        </p:spPr>
      </p:sp>
      <p:sp>
        <p:nvSpPr>
          <p:cNvPr id="6" name="Text 4"/>
          <p:cNvSpPr/>
          <p:nvPr/>
        </p:nvSpPr>
        <p:spPr>
          <a:xfrm>
            <a:off x="65836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Add a New Page</a:t>
            </a:r>
            <a:endParaRPr lang="en-US" sz="1500" dirty="0"/>
          </a:p>
        </p:txBody>
      </p:sp>
      <p:sp>
        <p:nvSpPr>
          <p:cNvPr id="8" name="Text 6"/>
          <p:cNvSpPr/>
          <p:nvPr/>
        </p:nvSpPr>
        <p:spPr>
          <a:xfrm>
            <a:off x="71323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Create the component in src/pages/ (e.g. Wishlist.jsx). Import it into AppRoutes.jsx, wrap it in &lt;MainLayout&gt;, and wrap in &lt;ProtectedRoute&gt;/&lt;AdminRoute&gt; if it needs auth. Add a link to Navbar.jsx or Sidebar.jsx.</a:t>
            </a:r>
            <a:endParaRPr lang="en-US" sz="1150" dirty="0"/>
          </a:p>
        </p:txBody>
      </p:sp>
      <p:sp>
        <p:nvSpPr>
          <p:cNvPr id="9" name="Shape 7"/>
          <p:cNvSpPr/>
          <p:nvPr/>
        </p:nvSpPr>
        <p:spPr>
          <a:xfrm>
            <a:off x="6217920" y="1143000"/>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0" name="Shape 8"/>
          <p:cNvSpPr/>
          <p:nvPr/>
        </p:nvSpPr>
        <p:spPr>
          <a:xfrm>
            <a:off x="6419088" y="1344168"/>
            <a:ext cx="292608" cy="292608"/>
          </a:xfrm>
          <a:prstGeom prst="ellipse">
            <a:avLst/>
          </a:prstGeom>
          <a:solidFill>
            <a:srgbClr val="4F46E5"/>
          </a:solidFill>
          <a:ln/>
        </p:spPr>
      </p:sp>
      <p:sp>
        <p:nvSpPr>
          <p:cNvPr id="11" name="Text 9"/>
          <p:cNvSpPr/>
          <p:nvPr/>
        </p:nvSpPr>
        <p:spPr>
          <a:xfrm>
            <a:off x="6419088" y="13441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12280" y="1325880"/>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Add a New Component</a:t>
            </a:r>
            <a:endParaRPr lang="en-US" sz="1500" dirty="0"/>
          </a:p>
        </p:txBody>
      </p:sp>
      <p:sp>
        <p:nvSpPr>
          <p:cNvPr id="13" name="Text 11"/>
          <p:cNvSpPr/>
          <p:nvPr/>
        </p:nvSpPr>
        <p:spPr>
          <a:xfrm>
            <a:off x="6473952" y="1764792"/>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Create the file under src/components/ (e.g. WishlistHeart.jsx). Design it to accept configurable settings as props. Import it into the pages or parent components that need it.</a:t>
            </a:r>
            <a:endParaRPr lang="en-US" sz="1150" dirty="0"/>
          </a:p>
        </p:txBody>
      </p:sp>
      <p:sp>
        <p:nvSpPr>
          <p:cNvPr id="14" name="Shape 12"/>
          <p:cNvSpPr/>
          <p:nvPr/>
        </p:nvSpPr>
        <p:spPr>
          <a:xfrm>
            <a:off x="45720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15" name="Shape 13"/>
          <p:cNvSpPr/>
          <p:nvPr/>
        </p:nvSpPr>
        <p:spPr>
          <a:xfrm>
            <a:off x="658368" y="4069080"/>
            <a:ext cx="292608" cy="292608"/>
          </a:xfrm>
          <a:prstGeom prst="ellipse">
            <a:avLst/>
          </a:prstGeom>
          <a:solidFill>
            <a:srgbClr val="4F46E5"/>
          </a:solidFill>
          <a:ln/>
        </p:spPr>
      </p:sp>
      <p:sp>
        <p:nvSpPr>
          <p:cNvPr id="16" name="Text 14"/>
          <p:cNvSpPr/>
          <p:nvPr/>
        </p:nvSpPr>
        <p:spPr>
          <a:xfrm>
            <a:off x="65836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5156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Add a New API Integration</a:t>
            </a:r>
            <a:endParaRPr lang="en-US" sz="1500" dirty="0"/>
          </a:p>
        </p:txBody>
      </p:sp>
      <p:sp>
        <p:nvSpPr>
          <p:cNvPr id="18" name="Text 16"/>
          <p:cNvSpPr/>
          <p:nvPr/>
        </p:nvSpPr>
        <p:spPr>
          <a:xfrm>
            <a:off x="71323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Open src/services/api.js and locate or create the appropriate endpoint group (books, orders, auth, or a new one like wishlist). Define the Axios method call inside the api object.</a:t>
            </a:r>
            <a:endParaRPr lang="en-US" sz="1150" dirty="0"/>
          </a:p>
        </p:txBody>
      </p:sp>
      <p:sp>
        <p:nvSpPr>
          <p:cNvPr id="19" name="Shape 17"/>
          <p:cNvSpPr/>
          <p:nvPr/>
        </p:nvSpPr>
        <p:spPr>
          <a:xfrm>
            <a:off x="6217920" y="3867912"/>
            <a:ext cx="5486400" cy="2450592"/>
          </a:xfrm>
          <a:prstGeom prst="roundRect">
            <a:avLst>
              <a:gd name="adj" fmla="val 2985"/>
            </a:avLst>
          </a:prstGeom>
          <a:solidFill>
            <a:srgbClr val="F5F3FF"/>
          </a:solidFill>
          <a:ln/>
          <a:effectLst>
            <a:outerShdw sx="100000" sy="100000" kx="0" ky="0" algn="bl" rotWithShape="0" blurRad="76200" dist="25400" dir="2700000">
              <a:srgbClr val="000000">
                <a:alpha val="12000"/>
              </a:srgbClr>
            </a:outerShdw>
          </a:effectLst>
        </p:spPr>
      </p:sp>
      <p:sp>
        <p:nvSpPr>
          <p:cNvPr id="20" name="Shape 18"/>
          <p:cNvSpPr/>
          <p:nvPr/>
        </p:nvSpPr>
        <p:spPr>
          <a:xfrm>
            <a:off x="6419088" y="4069080"/>
            <a:ext cx="292608" cy="292608"/>
          </a:xfrm>
          <a:prstGeom prst="ellipse">
            <a:avLst/>
          </a:prstGeom>
          <a:solidFill>
            <a:srgbClr val="4F46E5"/>
          </a:solidFill>
          <a:ln/>
        </p:spPr>
      </p:sp>
      <p:sp>
        <p:nvSpPr>
          <p:cNvPr id="21" name="Text 19"/>
          <p:cNvSpPr/>
          <p:nvPr/>
        </p:nvSpPr>
        <p:spPr>
          <a:xfrm>
            <a:off x="6419088"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12280" y="4050792"/>
            <a:ext cx="4709160" cy="347472"/>
          </a:xfrm>
          <a:prstGeom prst="rect">
            <a:avLst/>
          </a:prstGeom>
          <a:noFill/>
          <a:ln/>
        </p:spPr>
        <p:txBody>
          <a:bodyPr wrap="square" lIns="0" tIns="0" rIns="0" bIns="0" rtlCol="0" anchor="ctr"/>
          <a:lstStyle/>
          <a:p>
            <a:pPr indent="0" marL="0">
              <a:buNone/>
            </a:pPr>
            <a:r>
              <a:rPr lang="en-US" sz="1500" b="1" dirty="0">
                <a:solidFill>
                  <a:srgbClr val="2E1065"/>
                </a:solidFill>
                <a:latin typeface="Cambria" pitchFamily="34" charset="0"/>
                <a:ea typeface="Cambria" pitchFamily="34" charset="-122"/>
                <a:cs typeface="Cambria" pitchFamily="34" charset="-120"/>
              </a:rPr>
              <a:t>Wire It to State</a:t>
            </a:r>
            <a:endParaRPr lang="en-US" sz="1500" dirty="0"/>
          </a:p>
        </p:txBody>
      </p:sp>
      <p:sp>
        <p:nvSpPr>
          <p:cNvPr id="23" name="Text 21"/>
          <p:cNvSpPr/>
          <p:nvPr/>
        </p:nvSpPr>
        <p:spPr>
          <a:xfrm>
            <a:off x="6473952" y="4489704"/>
            <a:ext cx="4974336" cy="1645920"/>
          </a:xfrm>
          <a:prstGeom prst="rect">
            <a:avLst/>
          </a:prstGeom>
          <a:noFill/>
          <a:ln/>
        </p:spPr>
        <p:txBody>
          <a:bodyPr wrap="square" lIns="0" tIns="0" rIns="0" bIns="0" rtlCol="0" anchor="t"/>
          <a:lstStyle/>
          <a:p>
            <a:pPr indent="0" marL="0">
              <a:lnSpc>
                <a:spcPct val="112000"/>
              </a:lnSpc>
              <a:buNone/>
            </a:pPr>
            <a:r>
              <a:rPr lang="en-US" sz="1150" dirty="0">
                <a:solidFill>
                  <a:srgbClr val="1E1B2E"/>
                </a:solidFill>
                <a:latin typeface="Calibri" pitchFamily="34" charset="0"/>
                <a:ea typeface="Calibri" pitchFamily="34" charset="-122"/>
                <a:cs typeface="Calibri" pitchFamily="34" charset="-120"/>
              </a:rPr>
              <a:t>Add matching actions to the relevant Context provider (BookContext.jsx or AuthContext.jsx) so components can trigger the new API call and receive updated global state in response.</a:t>
            </a:r>
            <a:endParaRPr lang="en-US" sz="1150" dirty="0"/>
          </a:p>
        </p:txBody>
      </p:sp>
      <p:sp>
        <p:nvSpPr>
          <p:cNvPr id="24" name="Text 22"/>
          <p:cNvSpPr/>
          <p:nvPr/>
        </p:nvSpPr>
        <p:spPr>
          <a:xfrm>
            <a:off x="11521440" y="6473952"/>
            <a:ext cx="365760" cy="274320"/>
          </a:xfrm>
          <a:prstGeom prst="rect">
            <a:avLst/>
          </a:prstGeom>
          <a:noFill/>
          <a:ln/>
        </p:spPr>
        <p:txBody>
          <a:bodyPr wrap="square" lIns="0" tIns="0" rIns="0" bIns="0" rtlCol="0" anchor="ctr"/>
          <a:lstStyle/>
          <a:p>
            <a:pPr algn="r" indent="0" marL="0">
              <a:buNone/>
            </a:pPr>
            <a:r>
              <a:rPr lang="en-US" sz="1000" dirty="0">
                <a:solidFill>
                  <a:srgbClr val="6B647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E1065"/>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4F46E5">
              <a:alpha val="30000"/>
            </a:srgbClr>
          </a:solidFill>
          <a:ln/>
        </p:spPr>
      </p:sp>
      <p:sp>
        <p:nvSpPr>
          <p:cNvPr id="3" name="Shape 1"/>
          <p:cNvSpPr/>
          <p:nvPr/>
        </p:nvSpPr>
        <p:spPr>
          <a:xfrm>
            <a:off x="10241280" y="4572000"/>
            <a:ext cx="3657600" cy="3657600"/>
          </a:xfrm>
          <a:prstGeom prst="ellipse">
            <a:avLst/>
          </a:prstGeom>
          <a:solidFill>
            <a:srgbClr val="FBBF24">
              <a:alpha val="15000"/>
            </a:srgbClr>
          </a:solidFill>
          <a:ln/>
        </p:spPr>
      </p:sp>
      <p:sp>
        <p:nvSpPr>
          <p:cNvPr id="4" name="Text 2"/>
          <p:cNvSpPr/>
          <p:nvPr/>
        </p:nvSpPr>
        <p:spPr>
          <a:xfrm>
            <a:off x="457200" y="246888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457200" y="3429000"/>
            <a:ext cx="9326880" cy="822960"/>
          </a:xfrm>
          <a:prstGeom prst="rect">
            <a:avLst/>
          </a:prstGeom>
          <a:noFill/>
          <a:ln/>
        </p:spPr>
        <p:txBody>
          <a:bodyPr wrap="square" lIns="0" tIns="0" rIns="0" bIns="0" rtlCol="0" anchor="ctr"/>
          <a:lstStyle/>
          <a:p>
            <a:pPr indent="0" marL="0">
              <a:lnSpc>
                <a:spcPct val="125000"/>
              </a:lnSpc>
              <a:buNone/>
            </a:pPr>
            <a:r>
              <a:rPr lang="en-US" sz="1400" dirty="0">
                <a:solidFill>
                  <a:srgbClr val="D8D2F0"/>
                </a:solidFill>
                <a:latin typeface="Calibri" pitchFamily="34" charset="0"/>
                <a:ea typeface="Calibri" pitchFamily="34" charset="-122"/>
                <a:cs typeface="Calibri" pitchFamily="34" charset="-120"/>
              </a:rPr>
              <a:t>BookStore Frontend Architecture &amp; Development Documentation — a Context-driven React SPA covering catalog browsing, cart, checkout, and admin management.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BookStore Frontend Architecture &amp; Development</dc:title>
  <dc:subject>PptxGenJS Presentation</dc:subject>
  <dc:creator>BookStore Frontend Docs</dc:creator>
  <cp:lastModifiedBy>BookStore Frontend Docs</cp:lastModifiedBy>
  <cp:revision>1</cp:revision>
  <dcterms:created xsi:type="dcterms:W3CDTF">2026-07-05T08:28:28Z</dcterms:created>
  <dcterms:modified xsi:type="dcterms:W3CDTF">2026-07-05T08:28:28Z</dcterms:modified>
</cp:coreProperties>
</file>