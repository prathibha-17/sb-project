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0" y="640080"/>
            <a:ext cx="3017520" cy="822960"/>
          </a:xfrm>
          <a:prstGeom prst="round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5394960"/>
            <a:ext cx="2194560" cy="685800"/>
          </a:xfrm>
          <a:prstGeom prst="round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5279" y="4297680"/>
            <a:ext cx="2743200" cy="502920"/>
          </a:xfrm>
          <a:prstGeom prst="roundRect">
            <a:avLst/>
          </a:prstGeom>
          <a:solidFill>
            <a:srgbClr val="D6C9F0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046720" cy="20116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Backend Development and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7680960" cy="219456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Built using Node.js, Express.js, MongoDB, and Mongoose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Covers backend structure, architecture, APIs, authentication, and database flow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Final seminar presentation 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91440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7132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E35B1"/>
                </a:solidFill>
              </a:defRPr>
            </a:pPr>
            <a:r>
              <a:t>Book Store Management System</a:t>
            </a:r>
          </a:p>
          <a:p>
            <a:pPr>
              <a:defRPr sz="2200">
                <a:solidFill>
                  <a:srgbClr val="302B3A"/>
                </a:solidFill>
              </a:defRPr>
            </a:pPr>
            <a:r>
              <a:t>Backend Development and Explanation</a:t>
            </a:r>
          </a:p>
          <a:p>
            <a:pPr>
              <a:defRPr sz="1800">
                <a:solidFill>
                  <a:srgbClr val="302B3A"/>
                </a:solidFill>
              </a:defRPr>
            </a:pPr>
            <a:r>
              <a:t>Built using Node.js, Express.js, MongoDB, and Mongoose</a:t>
            </a:r>
          </a:p>
          <a:p>
            <a:pPr>
              <a:defRPr sz="1800">
                <a:solidFill>
                  <a:srgbClr val="302B3A"/>
                </a:solidFill>
              </a:defRPr>
            </a:pPr>
            <a:r>
              <a:t>Final seminar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1. Backend overview and technology stack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2. Folder structure and modular architecture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3. Controllers, models, routes, and middleware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4. API flow, authentication, and authorization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5. Database design and MongoDB usage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6. Advantages, conclusion, and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Backend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The backend is built using Node.js, Express.js, MongoDB, and Mongoose.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 handles business logic, client requests, authentication, authorization, and data storage.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 connects the frontend of the Book Store Management System with the MongoDB database.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The project follows a modular structure to keep the code organized and scalable.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Node.js – JavaScript runtime used to build the server side of the application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Express.js – framework used to create routes, middleware, and APIs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MongoDB Atlas – cloud-based NoSQL database used to store application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Mongoose – ODM library used to define schemas and interact with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Backend Folder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config/ – stores database connection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controllers/ – contains business logic of the application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middlewares/ – contains authentication and route protection logic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models/ – stores Mongoose schemas for User, Seller, Admin, Book, Cart, and Order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routes/ – defines all API endpoints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server.js – main entry point of the backend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Backend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1691640" cy="105156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Frontend</a:t>
            </a:r>
            <a:br/>
            <a:r>
              <a:rPr>
                <a:solidFill>
                  <a:srgbClr val="302B3A"/>
                </a:solidFill>
              </a:rPr>
              <a:t>Request</a:t>
            </a:r>
          </a:p>
        </p:txBody>
      </p:sp>
      <p:sp>
        <p:nvSpPr>
          <p:cNvPr id="5" name="Chevron 4"/>
          <p:cNvSpPr/>
          <p:nvPr/>
        </p:nvSpPr>
        <p:spPr>
          <a:xfrm>
            <a:off x="2084832" y="2560320"/>
            <a:ext cx="237744" cy="502920"/>
          </a:xfrm>
          <a:prstGeom prst="chevron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67712" y="2331720"/>
            <a:ext cx="1691640" cy="1051560"/>
          </a:xfrm>
          <a:prstGeom prst="round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Route</a:t>
            </a:r>
            <a:br/>
            <a:r>
              <a:rPr>
                <a:solidFill>
                  <a:srgbClr val="302B3A"/>
                </a:solidFill>
              </a:rPr>
              <a:t>Handler</a:t>
            </a:r>
          </a:p>
        </p:txBody>
      </p:sp>
      <p:sp>
        <p:nvSpPr>
          <p:cNvPr id="7" name="Chevron 6"/>
          <p:cNvSpPr/>
          <p:nvPr/>
        </p:nvSpPr>
        <p:spPr>
          <a:xfrm>
            <a:off x="3941064" y="2560320"/>
            <a:ext cx="237744" cy="502920"/>
          </a:xfrm>
          <a:prstGeom prst="chevron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23944" y="2331720"/>
            <a:ext cx="1691640" cy="1051560"/>
          </a:xfrm>
          <a:prstGeom prst="round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Controller</a:t>
            </a:r>
            <a:br/>
            <a:r>
              <a:rPr>
                <a:solidFill>
                  <a:srgbClr val="302B3A"/>
                </a:solidFill>
              </a:rPr>
              <a:t>Logic</a:t>
            </a:r>
          </a:p>
        </p:txBody>
      </p:sp>
      <p:sp>
        <p:nvSpPr>
          <p:cNvPr id="9" name="Chevron 8"/>
          <p:cNvSpPr/>
          <p:nvPr/>
        </p:nvSpPr>
        <p:spPr>
          <a:xfrm>
            <a:off x="5797296" y="2560320"/>
            <a:ext cx="237744" cy="502920"/>
          </a:xfrm>
          <a:prstGeom prst="chevron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0176" y="2331720"/>
            <a:ext cx="1691640" cy="1051560"/>
          </a:xfrm>
          <a:prstGeom prst="roundRect">
            <a:avLst/>
          </a:prstGeom>
          <a:solidFill>
            <a:srgbClr val="D6C9F0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Model</a:t>
            </a:r>
            <a:br/>
            <a:r>
              <a:rPr>
                <a:solidFill>
                  <a:srgbClr val="302B3A"/>
                </a:solidFill>
              </a:rPr>
              <a:t>Query</a:t>
            </a:r>
          </a:p>
        </p:txBody>
      </p:sp>
      <p:sp>
        <p:nvSpPr>
          <p:cNvPr id="11" name="Chevron 10"/>
          <p:cNvSpPr/>
          <p:nvPr/>
        </p:nvSpPr>
        <p:spPr>
          <a:xfrm>
            <a:off x="7653528" y="2560320"/>
            <a:ext cx="237744" cy="502920"/>
          </a:xfrm>
          <a:prstGeom prst="chevron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36408" y="2331720"/>
            <a:ext cx="1691640" cy="105156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MongoDB</a:t>
            </a:r>
            <a:br/>
            <a:r>
              <a:rPr>
                <a:solidFill>
                  <a:srgbClr val="302B3A"/>
                </a:solidFill>
              </a:rPr>
              <a:t>Database</a:t>
            </a:r>
          </a:p>
        </p:txBody>
      </p:sp>
      <p:sp>
        <p:nvSpPr>
          <p:cNvPr id="13" name="Chevron 12"/>
          <p:cNvSpPr/>
          <p:nvPr/>
        </p:nvSpPr>
        <p:spPr>
          <a:xfrm>
            <a:off x="9509760" y="2560320"/>
            <a:ext cx="237744" cy="502920"/>
          </a:xfrm>
          <a:prstGeom prst="chevron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2331720"/>
            <a:ext cx="1691640" cy="105156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Response</a:t>
            </a:r>
            <a:br/>
            <a:r>
              <a:rPr>
                <a:solidFill>
                  <a:srgbClr val="302B3A"/>
                </a:solidFill>
              </a:rPr>
              <a:t>to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241280" cy="100584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Every request follows a clear path: route → controller → model → database → response. This separation makes the backend easy to manage and debug.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Controllers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D6C9F0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userController.js handles customer registration, login, cart, books, and orders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sellerController.js handles seller registration, login, inventory management, and orders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adminController.js handles dashboard access and management of users, sellers, and books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Controllers receive requests from routes, process logic, and return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Middleware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authMiddleware.js protects private routes using JWT verification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protect verifies the token and authenticates the request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adminOnly, sellerOnly, and userOnly enforce role-based access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Middleware helps prevent unauthorized access to protected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Models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User model stores customer details such as name, email, password, and role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Seller model stores seller details and connects sellers to books and orders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Admin model stores administrator login details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Book model stores title, author, genre, price, stock, and seller reference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Cart and Order models support shopping cart and order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API Endpoint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291840" cy="68580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283464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User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40280"/>
            <a:ext cx="2834640" cy="33832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/api/users/register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/api/users/login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GET /api/users/books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/api/users/cart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/api/users/order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69080" y="1417320"/>
            <a:ext cx="3291840" cy="685800"/>
          </a:xfrm>
          <a:prstGeom prst="round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572768"/>
            <a:ext cx="283464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Seller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240280"/>
            <a:ext cx="2834640" cy="33832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/api/sellers/register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/api/sellers/login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/api/sellers/books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PUT /api/sellers/books/:id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GET /api/sellers/orders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41732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417320"/>
            <a:ext cx="3291840" cy="685800"/>
          </a:xfrm>
          <a:prstGeom prst="round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572768"/>
            <a:ext cx="283464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Admin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240280"/>
            <a:ext cx="2834640" cy="33832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/api/admin/register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POST /api/admin/login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GET /api/admin/dashboard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GET /api/admin/users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DELETE /api/admin/books/:id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Authentication Flow using JWT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4892040" cy="86868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1. User enters email and 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4892040" cy="868680"/>
          </a:xfrm>
          <a:prstGeom prst="round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2. Backend validates credentials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4892040" cy="868680"/>
          </a:xfrm>
          <a:prstGeom prst="round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3. JWT token is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651760"/>
            <a:ext cx="4892040" cy="868680"/>
          </a:xfrm>
          <a:prstGeom prst="roundRect">
            <a:avLst/>
          </a:prstGeom>
          <a:solidFill>
            <a:srgbClr val="D6C9F0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4. Token is sent to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4892040" cy="86868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5. Client sends token in protected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92040" cy="86868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6. Middleware verifies token and grants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Role-Based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33375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337560" cy="73152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743200" cy="265176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Browse books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Manage cart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Place orders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View order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375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731520"/>
          </a:xfrm>
          <a:prstGeom prst="round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274320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2743200" cy="265176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Add books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Update/delete books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Manage inventory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View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645920"/>
            <a:ext cx="33375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1645920"/>
            <a:ext cx="3337560" cy="731520"/>
          </a:xfrm>
          <a:prstGeom prst="round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274320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2743200" cy="265176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Manage users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Manage sellers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Manage books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Monitor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Database Schema / Entity Relationship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688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468880" cy="50292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201168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011680" cy="9144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name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email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password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645920"/>
            <a:ext cx="24688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645920"/>
            <a:ext cx="2468880" cy="502920"/>
          </a:xfrm>
          <a:prstGeom prst="round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737360"/>
            <a:ext cx="201168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286000"/>
            <a:ext cx="2011680" cy="9144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userRef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items[]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totalPrice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45920"/>
            <a:ext cx="24688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1645920"/>
            <a:ext cx="2468880" cy="502920"/>
          </a:xfrm>
          <a:prstGeom prst="round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737360"/>
            <a:ext cx="201168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86000"/>
            <a:ext cx="2011680" cy="9144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userRef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orderedItems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amount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931920"/>
            <a:ext cx="24688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03120" y="3931920"/>
            <a:ext cx="2468880" cy="502920"/>
          </a:xfrm>
          <a:prstGeom prst="roundRect">
            <a:avLst/>
          </a:prstGeom>
          <a:solidFill>
            <a:srgbClr val="D6C9F0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4023359"/>
            <a:ext cx="201168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Seller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4572000"/>
            <a:ext cx="2011680" cy="9144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name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email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password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931920"/>
            <a:ext cx="24688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3931920"/>
            <a:ext cx="2468880" cy="502920"/>
          </a:xfrm>
          <a:prstGeom prst="round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4023359"/>
            <a:ext cx="201168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572000"/>
            <a:ext cx="2011680" cy="9144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title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author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price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stock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sellerRef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1737360"/>
            <a:ext cx="109728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rPr>
                <a:solidFill>
                  <a:srgbClr val="302B3A"/>
                </a:solidFill>
              </a:rPr>
              <a:t>adds 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737360"/>
            <a:ext cx="109728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rPr>
                <a:solidFill>
                  <a:srgbClr val="302B3A"/>
                </a:solidFill>
              </a:rPr>
              <a:t>places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023359"/>
            <a:ext cx="109728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rPr>
                <a:solidFill>
                  <a:srgbClr val="302B3A"/>
                </a:solidFill>
              </a:rPr>
              <a:t>lists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2880360"/>
            <a:ext cx="1097280" cy="2743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rPr>
                <a:solidFill>
                  <a:srgbClr val="302B3A"/>
                </a:solidFill>
              </a:rPr>
              <a:t>included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Why MongoDB Atlas?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FFE0E6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MongoDB Atlas is a cloud-hosted NoSQL database service.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 stores data as flexible documents, which is useful for books, carts, and orders.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 integrates easily with Node.js through Mongoose.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 supports scalability and is suitable for real-world web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Advantages of This Backend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D6C9F0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Modularity – each folder has a clear and separate responsibility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Scalability – new modules like payments, reviews, wishlist, or notifications can be added easily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Reusability – middleware, models, and controllers can be reused across routes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Security – JWT authentication and role-based authorization protect the system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Maintainability – organized code is easier for team development and future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C8E6DC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Integrate online payment gateway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Add wishlist and product review modules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Implement email notifications for orders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Add analytics dashboard for admin and seller insights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Deploy backend and frontend using cloud platforms for production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E57C2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155680" cy="4114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" cy="4983480"/>
          </a:xfrm>
          <a:prstGeom prst="rect">
            <a:avLst/>
          </a:prstGeom>
          <a:solidFill>
            <a:srgbClr val="BAA7E1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149840" cy="438912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The backend of the Book Store Management System is designed with a clean and modular architecture.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It supports authentication, book management, cart handling, order processing, seller operations, and admin operations.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rPr>
                <a:solidFill>
                  <a:srgbClr val="302B3A"/>
                </a:solidFill>
              </a:rPr>
              <a:t>Using Node.js, Express.js, MongoDB, and Mongoose makes the system scalable, maintainable, and suitable for full-stack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6400800" cy="22860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C4E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| Backend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  <a:ln>
            <a:solidFill>
              <a:srgbClr val="E6DFF0"/>
            </a:solidFill>
          </a:ln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Thank You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302B3A"/>
                </a:solidFill>
              </a:rPr>
              <a:t>Book Store Management System – Backend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20040"/>
            <a:ext cx="1280160" cy="411480"/>
          </a:xfrm>
          <a:prstGeom prst="roundRect">
            <a:avLst/>
          </a:prstGeom>
          <a:solidFill>
            <a:srgbClr val="D6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6126480"/>
            <a:ext cx="1097280" cy="228600"/>
          </a:xfrm>
          <a:prstGeom prst="roundRect">
            <a:avLst/>
          </a:prstGeom>
          <a:solidFill>
            <a:srgbClr val="C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6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23774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E35B1"/>
                </a:solidFill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302B3A"/>
                </a:solidFill>
              </a:defRPr>
            </a:pPr>
            <a:r>
              <a:t>Book Store Management System – Backend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